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4" r:id="rId4"/>
  </p:sldMasterIdLst>
  <p:notesMasterIdLst>
    <p:notesMasterId r:id="rId5"/>
  </p:notesMasterIdLst>
  <p:sldIdLst>
    <p:sldId id="256" r:id="rId6"/>
    <p:sldId id="257" r:id="rId9"/>
    <p:sldId id="258" r:id="rId10"/>
    <p:sldId id="259" r:id="rId11"/>
    <p:sldId id="260" r:id="rId12"/>
    <p:sldId id="261" r:id="rId13"/>
    <p:sldId id="262" r:id="rId8"/>
    <p:sldId id="263" r:id="rId7"/>
    <p:sldId id="264" r:id="rId16"/>
    <p:sldId id="265" r:id="rId17"/>
    <p:sldId id="266" r:id="rId18"/>
    <p:sldId id="267" r:id="rId19"/>
  </p:sldIdLst>
  <p:sldSz cy="6858000" cx="9144000"/>
  <p:notesSz cx="6858000" cy="9144000"/>
  <p:embeddedFontLst>
    <p:embeddedFont>
      <p:font typeface="Tahoma"/>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font" Target="fonts/Tahoma-regular.fntdata"/><Relationship Id="rId15" Type="http://schemas.openxmlformats.org/officeDocument/2006/relationships/font" Target="fonts/Tahoma-bold.fntdata"/><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00000"/>
                </a:solidFill>
                <a:latin typeface="Arial"/>
              </a:rPr>
              <a:t>One real frame from the receiver (Oct 8)</a:t>
            </a:r>
          </a:p>
        </c:rich>
      </c:tx>
      <c:layout/>
      <c:overlay val="0"/>
    </c:title>
    <c:autoTitleDeleted val="0"/>
    <c:plotArea>
      <c:barChart>
        <c:barDir val="col"/>
        <c:grouping val="clustered"/>
        <c:ser>
          <c:idx val="0"/>
          <c:order val="0"/>
          <c:tx>
            <c:strRef>
              <c:f>Sheet1!$B$1</c:f>
              <c:strCache>
                <c:ptCount val="1"/>
                <c:pt idx="0">
                  <c:v>Amplitude</c:v>
                </c:pt>
              </c:strCache>
            </c:strRef>
          </c:tx>
          <c:spPr>
            <a:solidFill>
              <a:srgbClr val="6C9D30"/>
            </a:solidFill>
          </c:spPr>
          <c:cat>
            <c:strRef>
              <c:f>Sheet1!$A$2:$A$65</c:f>
              <c:strCache>
                <c:ptCount val="6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strCache>
            </c:strRef>
          </c:cat>
          <c:val>
            <c:numRef>
              <c:f>Sheet1!$B$2:$B$65</c:f>
              <c:numCache>
                <c:formatCode>General</c:formatCode>
                <c:ptCount val="64"/>
                <c:pt idx="0">
                  <c:v>0.0</c:v>
                </c:pt>
                <c:pt idx="1">
                  <c:v>0.0</c:v>
                </c:pt>
                <c:pt idx="2">
                  <c:v>0.0</c:v>
                </c:pt>
                <c:pt idx="3">
                  <c:v>0.0</c:v>
                </c:pt>
                <c:pt idx="4">
                  <c:v>35.3</c:v>
                </c:pt>
                <c:pt idx="5">
                  <c:v>36.7</c:v>
                </c:pt>
                <c:pt idx="6">
                  <c:v>37.6</c:v>
                </c:pt>
                <c:pt idx="7">
                  <c:v>38.1</c:v>
                </c:pt>
                <c:pt idx="8">
                  <c:v>39.6</c:v>
                </c:pt>
                <c:pt idx="9">
                  <c:v>39.2</c:v>
                </c:pt>
                <c:pt idx="10">
                  <c:v>37.6</c:v>
                </c:pt>
                <c:pt idx="11">
                  <c:v>36.1</c:v>
                </c:pt>
                <c:pt idx="12">
                  <c:v>34.0</c:v>
                </c:pt>
                <c:pt idx="13">
                  <c:v>32.6</c:v>
                </c:pt>
                <c:pt idx="14">
                  <c:v>30.3</c:v>
                </c:pt>
                <c:pt idx="15">
                  <c:v>29.2</c:v>
                </c:pt>
                <c:pt idx="16">
                  <c:v>27.1</c:v>
                </c:pt>
                <c:pt idx="17">
                  <c:v>25.1</c:v>
                </c:pt>
                <c:pt idx="18">
                  <c:v>23.0</c:v>
                </c:pt>
                <c:pt idx="19">
                  <c:v>21.0</c:v>
                </c:pt>
                <c:pt idx="20">
                  <c:v>21.1</c:v>
                </c:pt>
                <c:pt idx="21">
                  <c:v>20.0</c:v>
                </c:pt>
                <c:pt idx="22">
                  <c:v>19.2</c:v>
                </c:pt>
                <c:pt idx="23">
                  <c:v>18.7</c:v>
                </c:pt>
                <c:pt idx="24">
                  <c:v>16.8</c:v>
                </c:pt>
                <c:pt idx="25">
                  <c:v>14.9</c:v>
                </c:pt>
                <c:pt idx="26">
                  <c:v>13.9</c:v>
                </c:pt>
                <c:pt idx="27">
                  <c:v>13.4</c:v>
                </c:pt>
                <c:pt idx="28">
                  <c:v>13.0</c:v>
                </c:pt>
                <c:pt idx="29">
                  <c:v>12.2</c:v>
                </c:pt>
                <c:pt idx="30">
                  <c:v>11.4</c:v>
                </c:pt>
                <c:pt idx="31">
                  <c:v>10.8</c:v>
                </c:pt>
                <c:pt idx="32">
                  <c:v>0.0</c:v>
                </c:pt>
                <c:pt idx="33">
                  <c:v>3.6</c:v>
                </c:pt>
                <c:pt idx="34">
                  <c:v>4.2</c:v>
                </c:pt>
                <c:pt idx="35">
                  <c:v>2.2</c:v>
                </c:pt>
                <c:pt idx="36">
                  <c:v>2.2</c:v>
                </c:pt>
                <c:pt idx="37">
                  <c:v>1.4</c:v>
                </c:pt>
                <c:pt idx="38">
                  <c:v>2.2</c:v>
                </c:pt>
                <c:pt idx="39">
                  <c:v>0.0</c:v>
                </c:pt>
                <c:pt idx="40">
                  <c:v>1.0</c:v>
                </c:pt>
                <c:pt idx="41">
                  <c:v>2.8</c:v>
                </c:pt>
                <c:pt idx="42">
                  <c:v>3.2</c:v>
                </c:pt>
                <c:pt idx="43">
                  <c:v>5.1</c:v>
                </c:pt>
                <c:pt idx="44">
                  <c:v>6.3</c:v>
                </c:pt>
                <c:pt idx="45">
                  <c:v>8.9</c:v>
                </c:pt>
                <c:pt idx="46">
                  <c:v>11.4</c:v>
                </c:pt>
                <c:pt idx="47">
                  <c:v>17.7</c:v>
                </c:pt>
                <c:pt idx="48">
                  <c:v>19.6</c:v>
                </c:pt>
                <c:pt idx="49">
                  <c:v>21.8</c:v>
                </c:pt>
                <c:pt idx="50">
                  <c:v>22.8</c:v>
                </c:pt>
                <c:pt idx="51">
                  <c:v>25.1</c:v>
                </c:pt>
                <c:pt idx="52">
                  <c:v>26.0</c:v>
                </c:pt>
                <c:pt idx="53">
                  <c:v>28.6</c:v>
                </c:pt>
                <c:pt idx="54">
                  <c:v>28.8</c:v>
                </c:pt>
                <c:pt idx="55">
                  <c:v>30.1</c:v>
                </c:pt>
                <c:pt idx="56">
                  <c:v>30.1</c:v>
                </c:pt>
                <c:pt idx="57">
                  <c:v>28.8</c:v>
                </c:pt>
                <c:pt idx="58">
                  <c:v>28.5</c:v>
                </c:pt>
                <c:pt idx="59">
                  <c:v>29.1</c:v>
                </c:pt>
                <c:pt idx="60">
                  <c:v>29.1</c:v>
                </c:pt>
                <c:pt idx="61">
                  <c:v>0.0</c:v>
                </c:pt>
                <c:pt idx="62">
                  <c:v>0.0</c:v>
                </c:pt>
                <c:pt idx="63">
                  <c:v>0.0</c:v>
                </c:pt>
              </c:numCache>
            </c:numRef>
          </c:val>
        </c:ser>
        <c:gapWidth val="40"/>
        <c:axId val="-2068027336"/>
        <c:axId val="-2113994440"/>
      </c:barChart>
      <c:catAx>
        <c:axId val="-2068027336"/>
        <c:scaling>
          <c:orientation val="minMax"/>
        </c:scaling>
        <c:delete val="0"/>
        <c:axPos val="b"/>
        <c:title>
          <c:tx>
            <c:rich>
              <a:bodyPr/>
              <a:lstStyle/>
              <a:p>
                <a:r>
                  <a:rPr sz="1100" b="0">
                    <a:solidFill>
                      <a:srgbClr val="595959"/>
                    </a:solidFill>
                    <a:latin typeface="Arial"/>
                  </a:rPr>
                  <a:t>subcarrier slot</a:t>
                </a:r>
              </a:p>
            </c:rich>
          </c:tx>
          <c:layout/>
          <c:overlay val="0"/>
        </c:title>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8"/>
        <c:tickMarkSkip val="8"/>
        <c:noMultiLvlLbl val="0"/>
      </c:catAx>
      <c:valAx>
        <c:axId val="-2113994440"/>
        <c:scaling/>
        <c:delete val="0"/>
        <c:axPos val="l"/>
        <c:majorGridlines>
          <c:spPr>
            <a:ln>
              <a:solidFill>
                <a:srgbClr val="D9D9D9"/>
              </a:solidFill>
            </a:ln>
          </c:spPr>
        </c:majorGridlines>
        <c:title>
          <c:tx>
            <c:rich>
              <a:bodyPr/>
              <a:lstStyle/>
              <a:p>
                <a:r>
                  <a:rPr sz="1100" b="0">
                    <a:solidFill>
                      <a:srgbClr val="595959"/>
                    </a:solidFill>
                    <a:latin typeface="Arial"/>
                  </a:rPr>
                  <a:t>amplitude</a:t>
                </a:r>
              </a:p>
            </c:rich>
          </c:tx>
          <c:layout/>
          <c:overlay val="0"/>
        </c:title>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9595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00000"/>
                </a:solidFill>
                <a:latin typeface="Arial"/>
              </a:rPr>
              <a:t>Median motion score per stretch (Oct 8)</a:t>
            </a:r>
          </a:p>
        </c:rich>
      </c:tx>
      <c:layout/>
      <c:overlay val="0"/>
    </c:title>
    <c:autoTitleDeleted val="0"/>
    <c:plotArea>
      <c:barChart>
        <c:barDir val="col"/>
        <c:grouping val="clustered"/>
        <c:ser>
          <c:idx val="0"/>
          <c:order val="0"/>
          <c:tx>
            <c:strRef>
              <c:f>Sheet1!$B$1</c:f>
              <c:strCache>
                <c:ptCount val="1"/>
                <c:pt idx="0">
                  <c:v>Median motion score</c:v>
                </c:pt>
              </c:strCache>
            </c:strRef>
          </c:tx>
          <c:dPt>
            <c:idx val="0"/>
            <c:spPr>
              <a:solidFill>
                <a:srgbClr val="757575"/>
              </a:solidFill>
            </c:spPr>
          </c:dPt>
          <c:dPt>
            <c:idx val="1"/>
            <c:spPr>
              <a:solidFill>
                <a:srgbClr val="E4701D"/>
              </a:solidFill>
            </c:spPr>
          </c:dPt>
          <c:dPt>
            <c:idx val="2"/>
            <c:spPr>
              <a:solidFill>
                <a:srgbClr val="757575"/>
              </a:solidFill>
            </c:spPr>
          </c:dPt>
          <c:dPt>
            <c:idx val="3"/>
            <c:spPr>
              <a:solidFill>
                <a:srgbClr val="E4701D"/>
              </a:solidFill>
            </c:spPr>
          </c:dPt>
          <c:cat>
            <c:strRef>
              <c:f>Sheet1!$A$2:$A$5</c:f>
              <c:strCache>
                <c:ptCount val="4"/>
                <c:pt idx="0">
                  <c:v>Still 0–18 s</c:v>
                </c:pt>
                <c:pt idx="1">
                  <c:v>Moving 19–54 s</c:v>
                </c:pt>
                <c:pt idx="2">
                  <c:v>Still 55–69 s</c:v>
                </c:pt>
                <c:pt idx="3">
                  <c:v>Moving 70–96 s</c:v>
                </c:pt>
              </c:strCache>
            </c:strRef>
          </c:cat>
          <c:val>
            <c:numRef>
              <c:f>Sheet1!$B$2:$B$5</c:f>
              <c:numCache>
                <c:formatCode>General</c:formatCode>
                <c:ptCount val="4"/>
                <c:pt idx="0">
                  <c:v>0.052</c:v>
                </c:pt>
                <c:pt idx="1">
                  <c:v>0.135</c:v>
                </c:pt>
                <c:pt idx="2">
                  <c:v>0.031</c:v>
                </c:pt>
                <c:pt idx="3">
                  <c:v>0.084</c:v>
                </c:pt>
              </c:numCache>
            </c:numRef>
          </c:val>
        </c:ser>
        <c:dLbls>
          <c:numFmt formatCode="0.000" sourceLinked="0"/>
          <c:txPr>
            <a:bodyPr/>
            <a:lstStyle/>
            <a:p>
              <a:pPr>
                <a:defRPr sz="1200">
                  <a:solidFill>
                    <a:srgbClr val="000000"/>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0.16"/>
        </c:scaling>
        <c:delete val="0"/>
        <c:axPos val="l"/>
        <c:majorGridlines>
          <c:spPr>
            <a:ln>
              <a:solidFill>
                <a:srgbClr val="D9D9D9"/>
              </a:solidFill>
            </a:ln>
          </c:spPr>
        </c:majorGridlines>
        <c:numFmt formatCode="0.0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95959"/>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9" name="Google Shape;4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r>
              <a:t>Introduce the team and the project: detecting presence, motion, and eventually location in a room using only Wi-Fi signals, measured with low-cost ESP32-C6 boards.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Objective: contactless sensing with Wi-Fi only. Three modules from the Week 1 plan, each building on the last. Module 1 is working, Module 2 has first results, Module 3 needs more receivers.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Key idea: the receiver sees the sum of many paths. OFDM splits a Wi-Fi frame across many subcarriers, and the paths add up differently at each frequency. The per-subcarrier channel estimate is the CSI. When a person moves, the reflected paths change, so the CSI changes over time.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one real frame from our receiver. 64 slots, 56 with signal. The dip in the middle of the band is multipath cancellation. We use amplitude because ESP32 phase is scrambled by clock offsets on every frame, and we normalize each frame to cancel the radio's automatic gain control.</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transmitter broadcasts a short frame 100 times a second over ESP-NOW. Every receiver on the channel measures CSI from each frame and publishes one record per frame over MQTT. The hub stamps arrival time, writes one CSV per receiver, and drives the live plot. Change from the September design: everything now joins the same home Wi-Fi, so any number of receivers can share one transmitter.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Hardware: ESP32-C6 boards, one antenna, 2.4 GHz only. We flash and configure over the COM port. Software: firmware is C++ on ESP-IDF with FreeRTOS, one file per board. The hub is mosquitto plus Python. Every per-board setting is typed over serial and saved in flash, which is what makes adding receivers configuration-only.</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platform works end to end. 100.1 frames per second at the receiver with almost perfectly even spacing. Three bring-up issues were found and fixed. The one number we still need is the hub delivery rate with the new broadcast design over home Wi-Fi.</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Top: every subcarrier's amplitude over 97 seconds. Bottom: the motion score. When the room is still the pattern is steady and the score sits near its baseline; when someone moves, the pattern breaks up and the score rises. Shaded stretches were labeled from this timeline after the recording.</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Median motion score per stretch. Moving stretches are 3 to 4 times higher than still ones, so even a simple threshold would separate them in this recording. This is one recording with stretches labeled afterwards; next we record labeled sessions to measure real accuracy.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Milestones from the Week 1 plan with current status. The platform milestones are done or in progress; characterization now follows the multi-receiver firmware. Dates to confirm as a team.</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work left, grouped. Hardware: confirm multi-receiver reporting and add receivers. Data: labeled sessions and characterization. Analysis: the Week 1 pipeline (clean, filter, reduce, decide). Then the demo and report.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six deliverables from Week 1, updated for the ESP32-C6 platform, with where each stands today.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sp>
        <p:nvSpPr>
          <p:cNvPr id="16" name="Google Shape;16;p2"/>
          <p:cNvSpPr/>
          <p:nvPr/>
        </p:nvSpPr>
        <p:spPr>
          <a:xfrm>
            <a:off x="2286000" y="0"/>
            <a:ext cx="6858000" cy="533400"/>
          </a:xfrm>
          <a:prstGeom prst="rect">
            <a:avLst/>
          </a:prstGeom>
          <a:solidFill>
            <a:srgbClr val="6C9D3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7" name="Google Shape;17;p2"/>
          <p:cNvSpPr/>
          <p:nvPr/>
        </p:nvSpPr>
        <p:spPr>
          <a:xfrm>
            <a:off x="0" y="0"/>
            <a:ext cx="2286000" cy="533400"/>
          </a:xfrm>
          <a:prstGeom prst="rect">
            <a:avLst/>
          </a:prstGeom>
          <a:solidFill>
            <a:srgbClr val="E4701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cxnSp>
        <p:nvCxnSpPr>
          <p:cNvPr id="18" name="Google Shape;18;p2"/>
          <p:cNvCxnSpPr/>
          <p:nvPr/>
        </p:nvCxnSpPr>
        <p:spPr>
          <a:xfrm>
            <a:off x="0" y="533400"/>
            <a:ext cx="9144000" cy="0"/>
          </a:xfrm>
          <a:prstGeom prst="straightConnector1">
            <a:avLst/>
          </a:prstGeom>
          <a:noFill/>
          <a:ln cap="flat" cmpd="sng" w="19050">
            <a:solidFill>
              <a:schemeClr val="lt1"/>
            </a:solidFill>
            <a:prstDash val="solid"/>
            <a:round/>
            <a:headEnd len="med" w="med" type="none"/>
            <a:tailEnd len="med" w="med" type="none"/>
          </a:ln>
        </p:spPr>
      </p:cxnSp>
      <p:cxnSp>
        <p:nvCxnSpPr>
          <p:cNvPr id="19" name="Google Shape;19;p2"/>
          <p:cNvCxnSpPr/>
          <p:nvPr/>
        </p:nvCxnSpPr>
        <p:spPr>
          <a:xfrm>
            <a:off x="2286000" y="0"/>
            <a:ext cx="0" cy="533400"/>
          </a:xfrm>
          <a:prstGeom prst="straightConnector1">
            <a:avLst/>
          </a:prstGeom>
          <a:noFill/>
          <a:ln cap="flat" cmpd="sng" w="19050">
            <a:solidFill>
              <a:schemeClr val="lt1"/>
            </a:solidFill>
            <a:prstDash val="solid"/>
            <a:round/>
            <a:headEnd len="med" w="med" type="none"/>
            <a:tailEnd len="med" w="med" type="none"/>
          </a:ln>
        </p:spPr>
      </p:cxnSp>
      <p:sp>
        <p:nvSpPr>
          <p:cNvPr id="20" name="Google Shape;20;p2"/>
          <p:cNvSpPr txBox="1"/>
          <p:nvPr/>
        </p:nvSpPr>
        <p:spPr>
          <a:xfrm>
            <a:off x="342900" y="90488"/>
            <a:ext cx="1485900" cy="366712"/>
          </a:xfrm>
          <a:prstGeom prst="rect">
            <a:avLst/>
          </a:prstGeom>
          <a:noFill/>
          <a:ln>
            <a:noFill/>
          </a:ln>
          <a:effectLst>
            <a:outerShdw blurRad="25400" rotWithShape="0" algn="ctr" dir="2700000" dist="25399">
              <a:srgbClr val="80808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UT DALLAS</a:t>
            </a:r>
            <a:endParaRPr b="0" i="0" sz="2400" u="none" cap="none" strike="noStrike">
              <a:solidFill>
                <a:schemeClr val="lt1"/>
              </a:solidFill>
              <a:latin typeface="Arial"/>
              <a:ea typeface="Arial"/>
              <a:cs typeface="Arial"/>
              <a:sym typeface="Arial"/>
            </a:endParaRPr>
          </a:p>
        </p:txBody>
      </p:sp>
      <p:sp>
        <p:nvSpPr>
          <p:cNvPr id="21" name="Google Shape;21;p2"/>
          <p:cNvSpPr txBox="1"/>
          <p:nvPr/>
        </p:nvSpPr>
        <p:spPr>
          <a:xfrm>
            <a:off x="2438400" y="120650"/>
            <a:ext cx="61722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lt1"/>
                </a:solidFill>
                <a:latin typeface="Arial"/>
                <a:ea typeface="Arial"/>
                <a:cs typeface="Arial"/>
                <a:sym typeface="Arial"/>
              </a:rPr>
              <a:t>Erik Jonsson School of Engineering &amp; Computer Science</a:t>
            </a:r>
            <a:endParaRPr b="0" i="0" sz="2400" u="none" cap="none" strike="noStrike">
              <a:solidFill>
                <a:schemeClr val="lt1"/>
              </a:solidFill>
              <a:latin typeface="Arial"/>
              <a:ea typeface="Arial"/>
              <a:cs typeface="Arial"/>
              <a:sym typeface="Arial"/>
            </a:endParaRPr>
          </a:p>
        </p:txBody>
      </p:sp>
      <p:sp>
        <p:nvSpPr>
          <p:cNvPr id="22" name="Google Shape;22;p2"/>
          <p:cNvSpPr txBox="1"/>
          <p:nvPr>
            <p:ph type="ctrTitle"/>
          </p:nvPr>
        </p:nvSpPr>
        <p:spPr>
          <a:xfrm>
            <a:off x="685800" y="997286"/>
            <a:ext cx="77724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23" name="Google Shape;23;p2"/>
          <p:cNvSpPr txBox="1"/>
          <p:nvPr>
            <p:ph idx="1" type="subTitle"/>
          </p:nvPr>
        </p:nvSpPr>
        <p:spPr>
          <a:xfrm>
            <a:off x="1371600" y="2922275"/>
            <a:ext cx="6400800" cy="537151"/>
          </a:xfrm>
          <a:prstGeom prst="rect">
            <a:avLst/>
          </a:prstGeom>
          <a:noFill/>
          <a:ln>
            <a:noFill/>
          </a:ln>
        </p:spPr>
        <p:txBody>
          <a:bodyPr anchorCtr="0" anchor="t" bIns="45700" lIns="91425" spcFirstLastPara="1" rIns="91425" wrap="square" tIns="45700">
            <a:noAutofit/>
          </a:bodyPr>
          <a:lstStyle>
            <a:lvl1pPr lvl="0" marR="0" rtl="0" algn="ctr">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1pPr>
            <a:lvl2pPr lvl="1"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lvl="5"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lvl="6"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lvl="7"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lvl="8"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pic>
        <p:nvPicPr>
          <p:cNvPr id="24" name="Google Shape;24;p2"/>
          <p:cNvPicPr preferRelativeResize="0"/>
          <p:nvPr/>
        </p:nvPicPr>
        <p:blipFill rotWithShape="1">
          <a:blip r:embed="rId2">
            <a:alphaModFix/>
          </a:blip>
          <a:srcRect b="0" l="0" r="0" t="0"/>
          <a:stretch/>
        </p:blipFill>
        <p:spPr>
          <a:xfrm>
            <a:off x="6477949" y="5343784"/>
            <a:ext cx="2132651" cy="789081"/>
          </a:xfrm>
          <a:prstGeom prst="rect">
            <a:avLst/>
          </a:prstGeom>
          <a:noFill/>
          <a:ln>
            <a:noFill/>
          </a:ln>
        </p:spPr>
      </p:pic>
      <p:sp>
        <p:nvSpPr>
          <p:cNvPr id="25" name="Google Shape;25;p2"/>
          <p:cNvSpPr txBox="1"/>
          <p:nvPr>
            <p:ph idx="10" type="dt"/>
          </p:nvPr>
        </p:nvSpPr>
        <p:spPr>
          <a:xfrm>
            <a:off x="3543300" y="3693578"/>
            <a:ext cx="2057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3"/>
          <p:cNvSpPr txBox="1"/>
          <p:nvPr>
            <p:ph type="title"/>
          </p:nvPr>
        </p:nvSpPr>
        <p:spPr>
          <a:xfrm>
            <a:off x="685800" y="581278"/>
            <a:ext cx="77724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28" name="Google Shape;28;p3"/>
          <p:cNvSpPr txBox="1"/>
          <p:nvPr>
            <p:ph idx="1" type="body"/>
          </p:nvPr>
        </p:nvSpPr>
        <p:spPr>
          <a:xfrm>
            <a:off x="295359" y="1365530"/>
            <a:ext cx="8553281" cy="450928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31" name="Google Shape;31;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spcBef>
                <a:spcPts val="32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
        <p:nvSpPr>
          <p:cNvPr id="32" name="Google Shape;32;p4"/>
          <p:cNvSpPr txBox="1"/>
          <p:nvPr>
            <p:ph idx="12" type="sldNum"/>
          </p:nvPr>
        </p:nvSpPr>
        <p:spPr>
          <a:xfrm>
            <a:off x="6554549" y="6385718"/>
            <a:ext cx="178141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5"/>
          <p:cNvSpPr txBox="1"/>
          <p:nvPr>
            <p:ph idx="1" type="body"/>
          </p:nvPr>
        </p:nvSpPr>
        <p:spPr>
          <a:xfrm>
            <a:off x="685800" y="1357439"/>
            <a:ext cx="3810000" cy="457402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5" name="Google Shape;35;p5"/>
          <p:cNvSpPr txBox="1"/>
          <p:nvPr>
            <p:ph idx="2" type="body"/>
          </p:nvPr>
        </p:nvSpPr>
        <p:spPr>
          <a:xfrm>
            <a:off x="4648200" y="1357439"/>
            <a:ext cx="3810000" cy="457402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5"/>
          <p:cNvSpPr txBox="1"/>
          <p:nvPr>
            <p:ph type="title"/>
          </p:nvPr>
        </p:nvSpPr>
        <p:spPr>
          <a:xfrm>
            <a:off x="685800" y="581278"/>
            <a:ext cx="77724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37" name="Google Shape;37;p5"/>
          <p:cNvSpPr txBox="1"/>
          <p:nvPr>
            <p:ph idx="12" type="sldNum"/>
          </p:nvPr>
        </p:nvSpPr>
        <p:spPr>
          <a:xfrm>
            <a:off x="6554549" y="6385718"/>
            <a:ext cx="178141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8" name="Shape 38"/>
        <p:cNvGrpSpPr/>
        <p:nvPr/>
      </p:nvGrpSpPr>
      <p:grpSpPr>
        <a:xfrm>
          <a:off x="0" y="0"/>
          <a:ext cx="0" cy="0"/>
          <a:chOff x="0" y="0"/>
          <a:chExt cx="0" cy="0"/>
        </a:xfrm>
      </p:grpSpPr>
      <p:sp>
        <p:nvSpPr>
          <p:cNvPr id="39" name="Google Shape;39;p6"/>
          <p:cNvSpPr txBox="1"/>
          <p:nvPr>
            <p:ph idx="1" type="body"/>
          </p:nvPr>
        </p:nvSpPr>
        <p:spPr>
          <a:xfrm>
            <a:off x="457200" y="1357439"/>
            <a:ext cx="4040188" cy="42281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0" name="Google Shape;40;p6"/>
          <p:cNvSpPr txBox="1"/>
          <p:nvPr>
            <p:ph idx="2" type="body"/>
          </p:nvPr>
        </p:nvSpPr>
        <p:spPr>
          <a:xfrm>
            <a:off x="457200" y="1870610"/>
            <a:ext cx="4040188" cy="425555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1" name="Google Shape;41;p6"/>
          <p:cNvSpPr txBox="1"/>
          <p:nvPr>
            <p:ph idx="3" type="body"/>
          </p:nvPr>
        </p:nvSpPr>
        <p:spPr>
          <a:xfrm>
            <a:off x="4645025" y="1357439"/>
            <a:ext cx="4041775" cy="422810"/>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2" name="Google Shape;42;p6"/>
          <p:cNvSpPr txBox="1"/>
          <p:nvPr>
            <p:ph idx="4" type="body"/>
          </p:nvPr>
        </p:nvSpPr>
        <p:spPr>
          <a:xfrm>
            <a:off x="4645025" y="1870610"/>
            <a:ext cx="4041775" cy="425555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3" name="Google Shape;43;p6"/>
          <p:cNvSpPr txBox="1"/>
          <p:nvPr>
            <p:ph type="title"/>
          </p:nvPr>
        </p:nvSpPr>
        <p:spPr>
          <a:xfrm>
            <a:off x="685800" y="581278"/>
            <a:ext cx="77724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44" name="Google Shape;44;p6"/>
          <p:cNvSpPr txBox="1"/>
          <p:nvPr>
            <p:ph idx="12" type="sldNum"/>
          </p:nvPr>
        </p:nvSpPr>
        <p:spPr>
          <a:xfrm>
            <a:off x="6554549" y="6385718"/>
            <a:ext cx="178141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7"/>
          <p:cNvSpPr txBox="1"/>
          <p:nvPr>
            <p:ph idx="12" type="sldNum"/>
          </p:nvPr>
        </p:nvSpPr>
        <p:spPr>
          <a:xfrm>
            <a:off x="6554549" y="6385718"/>
            <a:ext cx="178141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2286000" y="0"/>
            <a:ext cx="6858000" cy="533400"/>
          </a:xfrm>
          <a:prstGeom prst="rect">
            <a:avLst/>
          </a:prstGeom>
          <a:solidFill>
            <a:srgbClr val="6C9D3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1" name="Google Shape;11;p1"/>
          <p:cNvSpPr/>
          <p:nvPr/>
        </p:nvSpPr>
        <p:spPr>
          <a:xfrm>
            <a:off x="0" y="0"/>
            <a:ext cx="2286000" cy="533400"/>
          </a:xfrm>
          <a:prstGeom prst="rect">
            <a:avLst/>
          </a:prstGeom>
          <a:solidFill>
            <a:srgbClr val="E4701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cxnSp>
        <p:nvCxnSpPr>
          <p:cNvPr id="12" name="Google Shape;12;p1"/>
          <p:cNvCxnSpPr/>
          <p:nvPr/>
        </p:nvCxnSpPr>
        <p:spPr>
          <a:xfrm>
            <a:off x="2286000" y="0"/>
            <a:ext cx="0" cy="533400"/>
          </a:xfrm>
          <a:prstGeom prst="straightConnector1">
            <a:avLst/>
          </a:prstGeom>
          <a:noFill/>
          <a:ln cap="flat" cmpd="sng" w="19050">
            <a:solidFill>
              <a:schemeClr val="lt1"/>
            </a:solidFill>
            <a:prstDash val="solid"/>
            <a:round/>
            <a:headEnd len="med" w="med" type="none"/>
            <a:tailEnd len="med" w="med" type="none"/>
          </a:ln>
        </p:spPr>
      </p:cxnSp>
      <p:sp>
        <p:nvSpPr>
          <p:cNvPr id="13" name="Google Shape;13;p1"/>
          <p:cNvSpPr txBox="1"/>
          <p:nvPr/>
        </p:nvSpPr>
        <p:spPr>
          <a:xfrm>
            <a:off x="342900" y="90488"/>
            <a:ext cx="1485900" cy="366712"/>
          </a:xfrm>
          <a:prstGeom prst="rect">
            <a:avLst/>
          </a:prstGeom>
          <a:noFill/>
          <a:ln>
            <a:noFill/>
          </a:ln>
          <a:effectLst>
            <a:outerShdw blurRad="25400" rotWithShape="0" algn="ctr" dir="2700000" dist="25399">
              <a:srgbClr val="80808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UT DALLAS</a:t>
            </a:r>
            <a:endParaRPr b="0" i="0" sz="2400" u="none" cap="none" strike="noStrike">
              <a:solidFill>
                <a:schemeClr val="lt1"/>
              </a:solidFill>
              <a:latin typeface="Arial"/>
              <a:ea typeface="Arial"/>
              <a:cs typeface="Arial"/>
              <a:sym typeface="Arial"/>
            </a:endParaRPr>
          </a:p>
        </p:txBody>
      </p:sp>
      <p:sp>
        <p:nvSpPr>
          <p:cNvPr id="14" name="Google Shape;14;p1"/>
          <p:cNvSpPr txBox="1"/>
          <p:nvPr/>
        </p:nvSpPr>
        <p:spPr>
          <a:xfrm>
            <a:off x="2438400" y="120650"/>
            <a:ext cx="61722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lt1"/>
                </a:solidFill>
                <a:latin typeface="Arial"/>
                <a:ea typeface="Arial"/>
                <a:cs typeface="Arial"/>
                <a:sym typeface="Arial"/>
              </a:rPr>
              <a:t>Erik Jonsson School of Engineering &amp; Computer Science</a:t>
            </a:r>
            <a:endParaRPr b="0" i="0" sz="24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ph type="ctrTitle"/>
          </p:nvPr>
        </p:nvSpPr>
        <p:spPr>
          <a:xfrm>
            <a:off x="164592" y="720321"/>
            <a:ext cx="8878824" cy="1361769"/>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None/>
            </a:pPr>
            <a:r>
              <a:rPr b="1" lang="en-US" sz="2400" u="sng"/>
              <a:t>RIDE Fall 2026</a:t>
            </a:r>
            <a:br>
              <a:rPr b="1" lang="en-US" sz="2400"/>
            </a:br>
            <a:r>
              <a:rPr lang="en-US" sz="2400"/>
              <a:t>Midterm Presentation: Wi-Fi Sensing Using Channel State Information</a:t>
            </a:r>
            <a:endParaRPr b="1" sz="2400"/>
          </a:p>
        </p:txBody>
      </p:sp>
      <p:sp>
        <p:nvSpPr>
          <p:cNvPr id="53" name="Google Shape;53;p8"/>
          <p:cNvSpPr txBox="1"/>
          <p:nvPr>
            <p:ph idx="1" type="subTitle"/>
          </p:nvPr>
        </p:nvSpPr>
        <p:spPr>
          <a:xfrm>
            <a:off x="1038122" y="3074664"/>
            <a:ext cx="7433512" cy="70867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800"/>
              <a:buFont typeface="Tahoma"/>
              <a:buNone/>
            </a:pPr>
            <a:r>
              <a:rPr lang="en-US" sz="1800">
                <a:latin typeface="Tahoma"/>
                <a:ea typeface="Tahoma"/>
                <a:cs typeface="Tahoma"/>
                <a:sym typeface="Tahoma"/>
              </a:rPr>
              <a:t>Yusuf Shaikh, Thomas Alcorn, Karl Wara, Vihaan Vuppala</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Objectives</a:t>
            </a:r>
          </a:p>
        </p:txBody>
      </p:sp>
      <p:sp>
        <p:nvSpPr>
          <p:cNvPr id="3" name="TextBox 2"/>
          <p:cNvSpPr txBox="1"/>
          <p:nvPr/>
        </p:nvSpPr>
        <p:spPr>
          <a:xfrm>
            <a:off x="265176" y="1143000"/>
            <a:ext cx="8613648" cy="1737360"/>
          </a:xfrm>
          <a:prstGeom prst="rect">
            <a:avLst/>
          </a:prstGeom>
          <a:noFill/>
        </p:spPr>
        <p:txBody>
          <a:bodyPr wrap="square" anchor="t">
            <a:spAutoFit/>
          </a:bodyPr>
          <a:lstStyle/>
          <a:p>
            <a:pPr algn="l" marL="274320" indent="-274320">
              <a:spcAft>
                <a:spcPts val="600"/>
              </a:spcAft>
              <a:buFont typeface="Arial"/>
              <a:buChar char="•"/>
            </a:pPr>
            <a:r>
              <a:rPr sz="1600" b="0" i="0">
                <a:solidFill>
                  <a:srgbClr val="000000"/>
                </a:solidFill>
                <a:latin typeface="Arial"/>
              </a:rPr>
              <a:t>Detect presence, motion, and coarse location in a room using only Wi-Fi signals, with no cameras or wearables.</a:t>
            </a:r>
          </a:p>
          <a:p>
            <a:pPr algn="l" marL="274320" indent="-274320">
              <a:spcAft>
                <a:spcPts val="600"/>
              </a:spcAft>
              <a:buFont typeface="Arial"/>
              <a:buChar char="•"/>
            </a:pPr>
            <a:r>
              <a:rPr sz="1600" b="0" i="0">
                <a:solidFill>
                  <a:srgbClr val="000000"/>
                </a:solidFill>
                <a:latin typeface="Arial"/>
              </a:rPr>
              <a:t>Build on low-cost ESP32-C6 boards (about $10 each) so receivers can be added freely.</a:t>
            </a:r>
          </a:p>
          <a:p>
            <a:pPr algn="l" marL="274320" indent="-274320">
              <a:spcAft>
                <a:spcPts val="600"/>
              </a:spcAft>
              <a:buFont typeface="Arial"/>
              <a:buChar char="•"/>
            </a:pPr>
            <a:r>
              <a:rPr sz="1600" b="0" i="0">
                <a:solidFill>
                  <a:srgbClr val="000000"/>
                </a:solidFill>
                <a:latin typeface="Arial"/>
              </a:rPr>
              <a:t>Add receivers through configuration only, with no code changes.</a:t>
            </a:r>
          </a:p>
        </p:txBody>
      </p:sp>
      <p:sp>
        <p:nvSpPr>
          <p:cNvPr id="4" name="Module 1 card"/>
          <p:cNvSpPr/>
          <p:nvPr/>
        </p:nvSpPr>
        <p:spPr>
          <a:xfrm>
            <a:off x="365760" y="2514600"/>
            <a:ext cx="2697480" cy="3291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594360" y="2743200"/>
            <a:ext cx="457200" cy="45720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1</a:t>
            </a:r>
          </a:p>
        </p:txBody>
      </p:sp>
      <p:sp>
        <p:nvSpPr>
          <p:cNvPr id="6" name="TextBox 5"/>
          <p:cNvSpPr txBox="1"/>
          <p:nvPr/>
        </p:nvSpPr>
        <p:spPr>
          <a:xfrm>
            <a:off x="1188720" y="2715768"/>
            <a:ext cx="1783080" cy="54864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Measurement platform</a:t>
            </a:r>
          </a:p>
        </p:txBody>
      </p:sp>
      <p:sp>
        <p:nvSpPr>
          <p:cNvPr id="7" name="TextBox 6"/>
          <p:cNvSpPr txBox="1"/>
          <p:nvPr/>
        </p:nvSpPr>
        <p:spPr>
          <a:xfrm>
            <a:off x="594360" y="3474720"/>
            <a:ext cx="2240280" cy="1645920"/>
          </a:xfrm>
          <a:prstGeom prst="rect">
            <a:avLst/>
          </a:prstGeom>
          <a:noFill/>
        </p:spPr>
        <p:txBody>
          <a:bodyPr wrap="square" anchor="t" lIns="0" rIns="0" tIns="0" bIns="0">
            <a:spAutoFit/>
          </a:bodyPr>
          <a:lstStyle/>
          <a:p>
            <a:pPr algn="l" marL="0" indent="0">
              <a:spcAft>
                <a:spcPts val="200"/>
              </a:spcAft>
              <a:buNone/>
            </a:pPr>
            <a:r>
              <a:rPr sz="1400" b="0" i="0">
                <a:solidFill>
                  <a:srgbClr val="000000"/>
                </a:solidFill>
                <a:latin typeface="Arial"/>
              </a:rPr>
              <a:t>Repeatable CSI capture on ESP32-C6 boards, characterized against known conditions.</a:t>
            </a:r>
          </a:p>
        </p:txBody>
      </p:sp>
      <p:sp>
        <p:nvSpPr>
          <p:cNvPr id="8" name="Rounded Rectangle 7"/>
          <p:cNvSpPr/>
          <p:nvPr/>
        </p:nvSpPr>
        <p:spPr>
          <a:xfrm>
            <a:off x="594360" y="5257800"/>
            <a:ext cx="1325880" cy="310896"/>
          </a:xfrm>
          <a:prstGeom prst="roundRect">
            <a:avLst>
              <a:gd name="adj" fmla="val 50000"/>
            </a:avLst>
          </a:prstGeom>
          <a:solidFill>
            <a:srgbClr val="6C9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Working</a:t>
            </a:r>
          </a:p>
        </p:txBody>
      </p:sp>
      <p:sp>
        <p:nvSpPr>
          <p:cNvPr id="9" name="Module 2 card"/>
          <p:cNvSpPr/>
          <p:nvPr/>
        </p:nvSpPr>
        <p:spPr>
          <a:xfrm>
            <a:off x="3200400" y="2514600"/>
            <a:ext cx="2697480" cy="3291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429000" y="2743200"/>
            <a:ext cx="457200" cy="45720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2</a:t>
            </a:r>
          </a:p>
        </p:txBody>
      </p:sp>
      <p:sp>
        <p:nvSpPr>
          <p:cNvPr id="11" name="TextBox 10"/>
          <p:cNvSpPr txBox="1"/>
          <p:nvPr/>
        </p:nvSpPr>
        <p:spPr>
          <a:xfrm>
            <a:off x="4023360" y="2715768"/>
            <a:ext cx="1783080" cy="54864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Presence and motion</a:t>
            </a:r>
          </a:p>
        </p:txBody>
      </p:sp>
      <p:sp>
        <p:nvSpPr>
          <p:cNvPr id="12" name="TextBox 11"/>
          <p:cNvSpPr txBox="1"/>
          <p:nvPr/>
        </p:nvSpPr>
        <p:spPr>
          <a:xfrm>
            <a:off x="3429000" y="3474720"/>
            <a:ext cx="2240280" cy="1645920"/>
          </a:xfrm>
          <a:prstGeom prst="rect">
            <a:avLst/>
          </a:prstGeom>
          <a:noFill/>
        </p:spPr>
        <p:txBody>
          <a:bodyPr wrap="square" anchor="t" lIns="0" rIns="0" tIns="0" bIns="0">
            <a:spAutoFit/>
          </a:bodyPr>
          <a:lstStyle/>
          <a:p>
            <a:pPr algn="l" marL="0" indent="0">
              <a:spcAft>
                <a:spcPts val="200"/>
              </a:spcAft>
              <a:buNone/>
            </a:pPr>
            <a:r>
              <a:rPr sz="1400" b="0" i="0">
                <a:solidFill>
                  <a:srgbClr val="000000"/>
                </a:solidFill>
                <a:latin typeface="Arial"/>
              </a:rPr>
              <a:t>Classify a recording as empty, occupied and still, or occupied and moving.</a:t>
            </a:r>
          </a:p>
        </p:txBody>
      </p:sp>
      <p:sp>
        <p:nvSpPr>
          <p:cNvPr id="13" name="Rounded Rectangle 12"/>
          <p:cNvSpPr/>
          <p:nvPr/>
        </p:nvSpPr>
        <p:spPr>
          <a:xfrm>
            <a:off x="3429000" y="5257800"/>
            <a:ext cx="1325880" cy="310896"/>
          </a:xfrm>
          <a:prstGeom prst="roundRect">
            <a:avLst>
              <a:gd name="adj" fmla="val 50000"/>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First results</a:t>
            </a:r>
          </a:p>
        </p:txBody>
      </p:sp>
      <p:sp>
        <p:nvSpPr>
          <p:cNvPr id="14" name="Module 3 card"/>
          <p:cNvSpPr/>
          <p:nvPr/>
        </p:nvSpPr>
        <p:spPr>
          <a:xfrm>
            <a:off x="6035040" y="2514600"/>
            <a:ext cx="2697480" cy="3291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263640" y="2743200"/>
            <a:ext cx="457200" cy="45720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3</a:t>
            </a:r>
          </a:p>
        </p:txBody>
      </p:sp>
      <p:sp>
        <p:nvSpPr>
          <p:cNvPr id="16" name="TextBox 15"/>
          <p:cNvSpPr txBox="1"/>
          <p:nvPr/>
        </p:nvSpPr>
        <p:spPr>
          <a:xfrm>
            <a:off x="6858000" y="2715768"/>
            <a:ext cx="1783080" cy="54864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Zone localization</a:t>
            </a:r>
          </a:p>
        </p:txBody>
      </p:sp>
      <p:sp>
        <p:nvSpPr>
          <p:cNvPr id="17" name="TextBox 16"/>
          <p:cNvSpPr txBox="1"/>
          <p:nvPr/>
        </p:nvSpPr>
        <p:spPr>
          <a:xfrm>
            <a:off x="6263640" y="3474720"/>
            <a:ext cx="2240280" cy="1645920"/>
          </a:xfrm>
          <a:prstGeom prst="rect">
            <a:avLst/>
          </a:prstGeom>
          <a:noFill/>
        </p:spPr>
        <p:txBody>
          <a:bodyPr wrap="square" anchor="t" lIns="0" rIns="0" tIns="0" bIns="0">
            <a:spAutoFit/>
          </a:bodyPr>
          <a:lstStyle/>
          <a:p>
            <a:pPr algn="l" marL="0" indent="0">
              <a:spcAft>
                <a:spcPts val="200"/>
              </a:spcAft>
              <a:buNone/>
            </a:pPr>
            <a:r>
              <a:rPr sz="1400" b="0" i="0">
                <a:solidFill>
                  <a:srgbClr val="000000"/>
                </a:solidFill>
                <a:latin typeface="Arial"/>
              </a:rPr>
              <a:t>Identify which of 3 zones a person is in, using several receivers.</a:t>
            </a:r>
          </a:p>
        </p:txBody>
      </p:sp>
      <p:sp>
        <p:nvSpPr>
          <p:cNvPr id="18" name="Rounded Rectangle 17"/>
          <p:cNvSpPr/>
          <p:nvPr/>
        </p:nvSpPr>
        <p:spPr>
          <a:xfrm>
            <a:off x="6263640" y="5257800"/>
            <a:ext cx="1325880" cy="310896"/>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Planned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Fundamental Theory: Multipath and CSI</a:t>
            </a:r>
          </a:p>
        </p:txBody>
      </p:sp>
      <p:sp>
        <p:nvSpPr>
          <p:cNvPr id="3" name="TextBox 2"/>
          <p:cNvSpPr txBox="1"/>
          <p:nvPr/>
        </p:nvSpPr>
        <p:spPr>
          <a:xfrm>
            <a:off x="265176" y="1143000"/>
            <a:ext cx="8613648" cy="2103120"/>
          </a:xfrm>
          <a:prstGeom prst="rect">
            <a:avLst/>
          </a:prstGeom>
          <a:noFill/>
        </p:spPr>
        <p:txBody>
          <a:bodyPr wrap="square" anchor="t">
            <a:spAutoFit/>
          </a:bodyPr>
          <a:lstStyle/>
          <a:p>
            <a:pPr algn="l" marL="274320" indent="-274320">
              <a:spcAft>
                <a:spcPts val="600"/>
              </a:spcAft>
              <a:buFont typeface="Arial"/>
              <a:buChar char="•"/>
            </a:pPr>
            <a:r>
              <a:rPr sz="1600" b="0" i="0">
                <a:solidFill>
                  <a:srgbClr val="000000"/>
                </a:solidFill>
                <a:latin typeface="Arial"/>
              </a:rPr>
              <a:t>A Wi-Fi signal reaches the receiver along many paths at once: direct, and reflected off walls, furniture, and people.</a:t>
            </a:r>
          </a:p>
          <a:p>
            <a:pPr algn="l" marL="274320" indent="-274320">
              <a:spcAft>
                <a:spcPts val="600"/>
              </a:spcAft>
              <a:buFont typeface="Arial"/>
              <a:buChar char="•"/>
            </a:pPr>
            <a:r>
              <a:rPr sz="1600" b="0" i="0">
                <a:solidFill>
                  <a:srgbClr val="000000"/>
                </a:solidFill>
                <a:latin typeface="Arial"/>
              </a:rPr>
              <a:t>Wi-Fi (OFDM) spreads each frame over many narrow frequencies called subcarriers. The paths add up differently at each one.</a:t>
            </a:r>
          </a:p>
          <a:p>
            <a:pPr algn="l" marL="274320" indent="-274320">
              <a:spcAft>
                <a:spcPts val="600"/>
              </a:spcAft>
              <a:buFont typeface="Arial"/>
              <a:buChar char="•"/>
            </a:pPr>
            <a:r>
              <a:rPr sz="1600" b="0" i="0">
                <a:solidFill>
                  <a:srgbClr val="000000"/>
                </a:solidFill>
                <a:latin typeface="Arial"/>
              </a:rPr>
              <a:t>The receiver estimates the channel on every subcarrier: its amplitude and phase. This is the Channel State Information (CSI).</a:t>
            </a:r>
          </a:p>
          <a:p>
            <a:pPr algn="l" marL="274320" indent="-274320">
              <a:spcAft>
                <a:spcPts val="600"/>
              </a:spcAft>
              <a:buFont typeface="Arial"/>
              <a:buChar char="•"/>
            </a:pPr>
            <a:r>
              <a:rPr sz="1600" b="0" i="0">
                <a:solidFill>
                  <a:srgbClr val="000000"/>
                </a:solidFill>
                <a:latin typeface="Arial"/>
              </a:rPr>
              <a:t>A person moving changes the reflected paths, so the CSI changes over time. That change is what we detect.</a:t>
            </a:r>
          </a:p>
        </p:txBody>
      </p:sp>
      <p:sp>
        <p:nvSpPr>
          <p:cNvPr id="4" name="Wall"/>
          <p:cNvSpPr/>
          <p:nvPr/>
        </p:nvSpPr>
        <p:spPr>
          <a:xfrm>
            <a:off x="2011680" y="3557016"/>
            <a:ext cx="5120640" cy="10972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0" y="3465576"/>
            <a:ext cx="914400" cy="274320"/>
          </a:xfrm>
          <a:prstGeom prst="rect">
            <a:avLst/>
          </a:prstGeom>
          <a:noFill/>
        </p:spPr>
        <p:txBody>
          <a:bodyPr wrap="square" anchor="t" lIns="0" rIns="0" tIns="0" bIns="0">
            <a:spAutoFit/>
          </a:bodyPr>
          <a:lstStyle/>
          <a:p>
            <a:pPr algn="l" marL="0" indent="0">
              <a:spcAft>
                <a:spcPts val="200"/>
              </a:spcAft>
              <a:buNone/>
            </a:pPr>
            <a:r>
              <a:rPr sz="1200" b="0" i="0">
                <a:solidFill>
                  <a:srgbClr val="595959"/>
                </a:solidFill>
                <a:latin typeface="Arial"/>
              </a:rPr>
              <a:t>wall</a:t>
            </a:r>
          </a:p>
        </p:txBody>
      </p:sp>
      <p:sp>
        <p:nvSpPr>
          <p:cNvPr id="6" name="Oval 5"/>
          <p:cNvSpPr/>
          <p:nvPr/>
        </p:nvSpPr>
        <p:spPr>
          <a:xfrm>
            <a:off x="868680" y="4617720"/>
            <a:ext cx="731520" cy="73152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TX</a:t>
            </a:r>
          </a:p>
        </p:txBody>
      </p:sp>
      <p:sp>
        <p:nvSpPr>
          <p:cNvPr id="7" name="Oval 6"/>
          <p:cNvSpPr/>
          <p:nvPr/>
        </p:nvSpPr>
        <p:spPr>
          <a:xfrm>
            <a:off x="7543800" y="4617720"/>
            <a:ext cx="731520" cy="731520"/>
          </a:xfrm>
          <a:prstGeom prst="ellipse">
            <a:avLst/>
          </a:prstGeom>
          <a:solidFill>
            <a:srgbClr val="6C9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RX</a:t>
            </a:r>
          </a:p>
        </p:txBody>
      </p:sp>
      <p:sp>
        <p:nvSpPr>
          <p:cNvPr id="8" name="TextBox 7"/>
          <p:cNvSpPr txBox="1"/>
          <p:nvPr/>
        </p:nvSpPr>
        <p:spPr>
          <a:xfrm>
            <a:off x="548640" y="5440680"/>
            <a:ext cx="1371600" cy="274320"/>
          </a:xfrm>
          <a:prstGeom prst="rect">
            <a:avLst/>
          </a:prstGeom>
          <a:noFill/>
        </p:spPr>
        <p:txBody>
          <a:bodyPr wrap="square" anchor="t" lIns="0" rIns="0" tIns="0" bIns="0">
            <a:spAutoFit/>
          </a:bodyPr>
          <a:lstStyle/>
          <a:p>
            <a:pPr algn="ctr" marL="0" indent="0">
              <a:spcAft>
                <a:spcPts val="200"/>
              </a:spcAft>
              <a:buNone/>
            </a:pPr>
            <a:r>
              <a:rPr sz="1200" b="0" i="0">
                <a:solidFill>
                  <a:srgbClr val="595959"/>
                </a:solidFill>
                <a:latin typeface="Arial"/>
              </a:rPr>
              <a:t>Transmitter</a:t>
            </a:r>
          </a:p>
        </p:txBody>
      </p:sp>
      <p:sp>
        <p:nvSpPr>
          <p:cNvPr id="9" name="TextBox 8"/>
          <p:cNvSpPr txBox="1"/>
          <p:nvPr/>
        </p:nvSpPr>
        <p:spPr>
          <a:xfrm>
            <a:off x="7223760" y="5440680"/>
            <a:ext cx="1371600" cy="274320"/>
          </a:xfrm>
          <a:prstGeom prst="rect">
            <a:avLst/>
          </a:prstGeom>
          <a:noFill/>
        </p:spPr>
        <p:txBody>
          <a:bodyPr wrap="square" anchor="t" lIns="0" rIns="0" tIns="0" bIns="0">
            <a:spAutoFit/>
          </a:bodyPr>
          <a:lstStyle/>
          <a:p>
            <a:pPr algn="ctr" marL="0" indent="0">
              <a:spcAft>
                <a:spcPts val="200"/>
              </a:spcAft>
              <a:buNone/>
            </a:pPr>
            <a:r>
              <a:rPr sz="1200" b="0" i="0">
                <a:solidFill>
                  <a:srgbClr val="595959"/>
                </a:solidFill>
                <a:latin typeface="Arial"/>
              </a:rPr>
              <a:t>Receiver</a:t>
            </a:r>
          </a:p>
        </p:txBody>
      </p:sp>
      <p:cxnSp>
        <p:nvCxnSpPr>
          <p:cNvPr id="10" name="Connector 9"/>
          <p:cNvCxnSpPr/>
          <p:nvPr/>
        </p:nvCxnSpPr>
        <p:spPr>
          <a:xfrm>
            <a:off x="1627632" y="4983480"/>
            <a:ext cx="5888736" cy="0"/>
          </a:xfrm>
          <a:prstGeom prst="line">
            <a:avLst/>
          </a:prstGeom>
          <a:ln w="22225">
            <a:solidFill>
              <a:srgbClr val="E4701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377440" y="4681728"/>
            <a:ext cx="1463040" cy="256032"/>
          </a:xfrm>
          <a:prstGeom prst="rect">
            <a:avLst/>
          </a:prstGeom>
          <a:noFill/>
        </p:spPr>
        <p:txBody>
          <a:bodyPr wrap="square" anchor="t" lIns="0" rIns="0" tIns="0" bIns="0">
            <a:spAutoFit/>
          </a:bodyPr>
          <a:lstStyle/>
          <a:p>
            <a:pPr algn="l" marL="0" indent="0">
              <a:spcAft>
                <a:spcPts val="200"/>
              </a:spcAft>
              <a:buNone/>
            </a:pPr>
            <a:r>
              <a:rPr sz="1200" b="0" i="0">
                <a:solidFill>
                  <a:srgbClr val="E4701D"/>
                </a:solidFill>
                <a:latin typeface="Arial"/>
              </a:rPr>
              <a:t>direct path</a:t>
            </a:r>
          </a:p>
        </p:txBody>
      </p:sp>
      <p:cxnSp>
        <p:nvCxnSpPr>
          <p:cNvPr id="12" name="Connector 11"/>
          <p:cNvCxnSpPr/>
          <p:nvPr/>
        </p:nvCxnSpPr>
        <p:spPr>
          <a:xfrm flipV="1">
            <a:off x="1508760" y="3675888"/>
            <a:ext cx="3063240" cy="1033272"/>
          </a:xfrm>
          <a:prstGeom prst="line">
            <a:avLst/>
          </a:prstGeom>
          <a:ln w="22225">
            <a:solidFill>
              <a:srgbClr val="E4701D"/>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72000" y="3675888"/>
            <a:ext cx="3063240" cy="1033272"/>
          </a:xfrm>
          <a:prstGeom prst="line">
            <a:avLst/>
          </a:prstGeom>
          <a:ln w="22225">
            <a:solidFill>
              <a:srgbClr val="E4701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94560" y="3703320"/>
            <a:ext cx="1371600" cy="256032"/>
          </a:xfrm>
          <a:prstGeom prst="rect">
            <a:avLst/>
          </a:prstGeom>
          <a:noFill/>
        </p:spPr>
        <p:txBody>
          <a:bodyPr wrap="square" anchor="t" lIns="0" rIns="0" tIns="0" bIns="0">
            <a:spAutoFit/>
          </a:bodyPr>
          <a:lstStyle/>
          <a:p>
            <a:pPr algn="l" marL="0" indent="0">
              <a:spcAft>
                <a:spcPts val="200"/>
              </a:spcAft>
              <a:buNone/>
            </a:pPr>
            <a:r>
              <a:rPr sz="1200" b="0" i="0">
                <a:solidFill>
                  <a:srgbClr val="E4701D"/>
                </a:solidFill>
                <a:latin typeface="Arial"/>
              </a:rPr>
              <a:t>reflected by wall</a:t>
            </a:r>
          </a:p>
        </p:txBody>
      </p:sp>
      <p:cxnSp>
        <p:nvCxnSpPr>
          <p:cNvPr id="15" name="Connector 14"/>
          <p:cNvCxnSpPr/>
          <p:nvPr/>
        </p:nvCxnSpPr>
        <p:spPr>
          <a:xfrm>
            <a:off x="1554480" y="5212080"/>
            <a:ext cx="2880360" cy="566928"/>
          </a:xfrm>
          <a:prstGeom prst="line">
            <a:avLst/>
          </a:prstGeom>
          <a:ln w="22225">
            <a:solidFill>
              <a:srgbClr val="E4701D"/>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434840" y="5212080"/>
            <a:ext cx="3154680" cy="566928"/>
          </a:xfrm>
          <a:prstGeom prst="line">
            <a:avLst/>
          </a:prstGeom>
          <a:ln w="22225">
            <a:solidFill>
              <a:srgbClr val="E4701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Person head"/>
          <p:cNvSpPr/>
          <p:nvPr/>
        </p:nvSpPr>
        <p:spPr>
          <a:xfrm>
            <a:off x="4453128" y="5669280"/>
            <a:ext cx="237744" cy="23774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rson body"/>
          <p:cNvSpPr/>
          <p:nvPr/>
        </p:nvSpPr>
        <p:spPr>
          <a:xfrm>
            <a:off x="4425696" y="5943600"/>
            <a:ext cx="292608" cy="502920"/>
          </a:xfrm>
          <a:prstGeom prst="roundRect">
            <a:avLst>
              <a:gd name="adj" fmla="val 1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46320" y="5897880"/>
            <a:ext cx="2560320" cy="457200"/>
          </a:xfrm>
          <a:prstGeom prst="rect">
            <a:avLst/>
          </a:prstGeom>
          <a:noFill/>
        </p:spPr>
        <p:txBody>
          <a:bodyPr wrap="square" anchor="t" lIns="0" rIns="0" tIns="0" bIns="0">
            <a:spAutoFit/>
          </a:bodyPr>
          <a:lstStyle/>
          <a:p>
            <a:pPr algn="l" marL="0" indent="0">
              <a:spcAft>
                <a:spcPts val="200"/>
              </a:spcAft>
              <a:buNone/>
            </a:pPr>
            <a:r>
              <a:rPr sz="1200" b="0" i="0">
                <a:solidFill>
                  <a:srgbClr val="E4701D"/>
                </a:solidFill>
                <a:latin typeface="Arial"/>
              </a:rPr>
              <a:t>reflected by a person: changes as they move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Receiver Measures</a:t>
            </a:r>
          </a:p>
        </p:txBody>
      </p:sp>
      <p:graphicFrame>
        <p:nvGraphicFramePr>
          <p:cNvPr id="3" name="Chart 2"/>
          <p:cNvGraphicFramePr>
            <a:graphicFrameLocks noGrp="1"/>
          </p:cNvGraphicFramePr>
          <p:nvPr/>
        </p:nvGraphicFramePr>
        <p:xfrm>
          <a:off x="320040" y="1188720"/>
          <a:ext cx="5212080" cy="4937760"/>
        </p:xfrm>
        <a:graphic>
          <a:graphicData uri="http://schemas.openxmlformats.org/drawingml/2006/chart">
            <c:chart xmlns:c="http://schemas.openxmlformats.org/drawingml/2006/chart" r:id="rId3"/>
          </a:graphicData>
        </a:graphic>
      </p:graphicFrame>
      <p:sp>
        <p:nvSpPr>
          <p:cNvPr id="4" name="TextBox 3"/>
          <p:cNvSpPr txBox="1"/>
          <p:nvPr/>
        </p:nvSpPr>
        <p:spPr>
          <a:xfrm>
            <a:off x="5715000" y="1234440"/>
            <a:ext cx="3154680" cy="5120640"/>
          </a:xfrm>
          <a:prstGeom prst="rect">
            <a:avLst/>
          </a:prstGeom>
          <a:noFill/>
        </p:spPr>
        <p:txBody>
          <a:bodyPr wrap="square" anchor="t">
            <a:spAutoFit/>
          </a:bodyPr>
          <a:lstStyle/>
          <a:p>
            <a:pPr algn="l" marL="274320" indent="-274320">
              <a:spcAft>
                <a:spcPts val="600"/>
              </a:spcAft>
              <a:buFont typeface="Arial"/>
              <a:buChar char="•"/>
            </a:pPr>
            <a:r>
              <a:rPr sz="1400" b="0" i="0">
                <a:solidFill>
                  <a:srgbClr val="000000"/>
                </a:solidFill>
                <a:latin typeface="Arial"/>
              </a:rPr>
              <a:t>A 20 MHz 802.11n frame gives 64 subcarrier slots. 56 carry signal; the rest are guard bands and the center slot.</a:t>
            </a:r>
          </a:p>
          <a:p>
            <a:pPr algn="l" marL="274320" indent="-274320">
              <a:spcAft>
                <a:spcPts val="600"/>
              </a:spcAft>
              <a:buFont typeface="Arial"/>
              <a:buChar char="•"/>
            </a:pPr>
            <a:r>
              <a:rPr sz="1400" b="0" i="0">
                <a:solidFill>
                  <a:srgbClr val="000000"/>
                </a:solidFill>
                <a:latin typeface="Arial"/>
              </a:rPr>
              <a:t>Each slot is one complex value: amplitude √(I² + Q²) and phase.</a:t>
            </a:r>
          </a:p>
          <a:p>
            <a:pPr algn="l" marL="274320" indent="-274320">
              <a:spcAft>
                <a:spcPts val="600"/>
              </a:spcAft>
              <a:buFont typeface="Arial"/>
              <a:buChar char="•"/>
            </a:pPr>
            <a:r>
              <a:rPr sz="1400" b="0" i="0">
                <a:solidFill>
                  <a:srgbClr val="000000"/>
                </a:solidFill>
                <a:latin typeface="Arial"/>
              </a:rPr>
              <a:t>The dip near slots 33–45 is multipath: paths cancel at those frequencies.</a:t>
            </a:r>
          </a:p>
          <a:p>
            <a:pPr algn="l" marL="274320" indent="-274320">
              <a:spcAft>
                <a:spcPts val="600"/>
              </a:spcAft>
              <a:buFont typeface="Arial"/>
              <a:buChar char="•"/>
            </a:pPr>
            <a:r>
              <a:rPr sz="1400" b="0" i="0">
                <a:solidFill>
                  <a:srgbClr val="000000"/>
                </a:solidFill>
                <a:latin typeface="Arial"/>
              </a:rPr>
              <a:t>ESP32 phase shifts on every frame from clock offsets, so this project uses amplitude.</a:t>
            </a:r>
          </a:p>
          <a:p>
            <a:pPr algn="l" marL="274320" indent="-274320">
              <a:spcAft>
                <a:spcPts val="600"/>
              </a:spcAft>
              <a:buFont typeface="Arial"/>
              <a:buChar char="•"/>
            </a:pPr>
            <a:r>
              <a:rPr sz="1400" b="0" i="0">
                <a:solidFill>
                  <a:srgbClr val="000000"/>
                </a:solidFill>
                <a:latin typeface="Arial"/>
              </a:rPr>
              <a:t>Each frame is divided by its mean amplitude to cancel the radio's automatic gain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Design: Block Diagram</a:t>
            </a:r>
          </a:p>
        </p:txBody>
      </p:sp>
      <p:sp>
        <p:nvSpPr>
          <p:cNvPr id="3" name="TextBox 2"/>
          <p:cNvSpPr txBox="1"/>
          <p:nvPr/>
        </p:nvSpPr>
        <p:spPr>
          <a:xfrm>
            <a:off x="265176" y="1143000"/>
            <a:ext cx="8613648" cy="1097280"/>
          </a:xfrm>
          <a:prstGeom prst="rect">
            <a:avLst/>
          </a:prstGeom>
          <a:noFill/>
        </p:spPr>
        <p:txBody>
          <a:bodyPr wrap="square" anchor="t">
            <a:spAutoFit/>
          </a:bodyPr>
          <a:lstStyle/>
          <a:p>
            <a:pPr algn="l" marL="274320" indent="-274320">
              <a:spcAft>
                <a:spcPts val="600"/>
              </a:spcAft>
              <a:buFont typeface="Arial"/>
              <a:buChar char="•"/>
            </a:pPr>
            <a:r>
              <a:rPr sz="1600" b="0" i="0">
                <a:solidFill>
                  <a:srgbClr val="000000"/>
                </a:solidFill>
                <a:latin typeface="Arial"/>
              </a:rPr>
              <a:t>One transmitter broadcasts; every receiver captures CSI from each frame.</a:t>
            </a:r>
          </a:p>
          <a:p>
            <a:pPr algn="l" marL="274320" indent="-274320">
              <a:spcAft>
                <a:spcPts val="600"/>
              </a:spcAft>
              <a:buFont typeface="Arial"/>
              <a:buChar char="•"/>
            </a:pPr>
            <a:r>
              <a:rPr sz="1600" b="0" i="0">
                <a:solidFill>
                  <a:srgbClr val="000000"/>
                </a:solidFill>
                <a:latin typeface="Arial"/>
              </a:rPr>
              <a:t>Receivers publish records over MQTT to a hub that logs and plots them.</a:t>
            </a:r>
          </a:p>
          <a:p>
            <a:pPr algn="l" marL="274320" indent="-274320">
              <a:spcAft>
                <a:spcPts val="600"/>
              </a:spcAft>
              <a:buFont typeface="Arial"/>
              <a:buChar char="•"/>
            </a:pPr>
            <a:r>
              <a:rPr sz="1600" b="0" i="0">
                <a:solidFill>
                  <a:srgbClr val="000000"/>
                </a:solidFill>
                <a:latin typeface="Arial"/>
              </a:rPr>
              <a:t>All boards join the same 2.4 GHz Wi-Fi network, which sets the sensing channel.</a:t>
            </a:r>
          </a:p>
        </p:txBody>
      </p:sp>
      <p:sp>
        <p:nvSpPr>
          <p:cNvPr id="4" name="Transmitter"/>
          <p:cNvSpPr/>
          <p:nvPr/>
        </p:nvSpPr>
        <p:spPr>
          <a:xfrm>
            <a:off x="365760" y="3703320"/>
            <a:ext cx="1691640" cy="1188720"/>
          </a:xfrm>
          <a:prstGeom prst="roundRect">
            <a:avLst>
              <a:gd name="adj" fmla="val 10000"/>
            </a:avLst>
          </a:prstGeom>
          <a:solidFill>
            <a:srgbClr val="FCEBDD"/>
          </a:solidFill>
          <a:ln w="15875">
            <a:solidFill>
              <a:srgbClr val="E4701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000000"/>
                </a:solidFill>
                <a:latin typeface="Arial"/>
              </a:rPr>
              <a:t>Transmitter</a:t>
            </a:r>
          </a:p>
          <a:p>
            <a:pPr algn="ctr"/>
            <a:r>
              <a:rPr sz="1100" b="0" i="0">
                <a:solidFill>
                  <a:srgbClr val="595959"/>
                </a:solidFill>
                <a:latin typeface="Arial"/>
              </a:rPr>
              <a:t>ESP32-C6</a:t>
            </a:r>
          </a:p>
          <a:p>
            <a:pPr algn="ctr"/>
            <a:r>
              <a:rPr sz="1100" b="0" i="0">
                <a:solidFill>
                  <a:srgbClr val="595959"/>
                </a:solidFill>
                <a:latin typeface="Arial"/>
              </a:rPr>
              <a:t>ESP-NOW broadcast</a:t>
            </a:r>
          </a:p>
          <a:p>
            <a:pPr algn="ctr"/>
            <a:r>
              <a:rPr sz="1100" b="0" i="0">
                <a:solidFill>
                  <a:srgbClr val="595959"/>
                </a:solidFill>
                <a:latin typeface="Arial"/>
              </a:rPr>
              <a:t>100 frames/s</a:t>
            </a:r>
          </a:p>
        </p:txBody>
      </p:sp>
      <p:sp>
        <p:nvSpPr>
          <p:cNvPr id="5" name="Receiver 1"/>
          <p:cNvSpPr/>
          <p:nvPr/>
        </p:nvSpPr>
        <p:spPr>
          <a:xfrm>
            <a:off x="2880360" y="2606040"/>
            <a:ext cx="1691640" cy="786384"/>
          </a:xfrm>
          <a:prstGeom prst="roundRect">
            <a:avLst>
              <a:gd name="adj" fmla="val 10000"/>
            </a:avLst>
          </a:prstGeom>
          <a:solidFill>
            <a:srgbClr val="EAF2DF"/>
          </a:solidFill>
          <a:ln w="15875">
            <a:solidFill>
              <a:srgbClr val="6C9D3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i="0">
                <a:solidFill>
                  <a:srgbClr val="000000"/>
                </a:solidFill>
                <a:latin typeface="Arial"/>
              </a:rPr>
              <a:t>Receiver 1</a:t>
            </a:r>
          </a:p>
          <a:p>
            <a:pPr algn="ctr"/>
            <a:r>
              <a:rPr sz="1000" b="0" i="0">
                <a:solidFill>
                  <a:srgbClr val="595959"/>
                </a:solidFill>
                <a:latin typeface="Arial"/>
              </a:rPr>
              <a:t>captures CSI</a:t>
            </a:r>
          </a:p>
        </p:txBody>
      </p:sp>
      <p:cxnSp>
        <p:nvCxnSpPr>
          <p:cNvPr id="6" name="Connector 5"/>
          <p:cNvCxnSpPr/>
          <p:nvPr/>
        </p:nvCxnSpPr>
        <p:spPr>
          <a:xfrm flipV="1">
            <a:off x="2057400" y="2999232"/>
            <a:ext cx="822960" cy="1298448"/>
          </a:xfrm>
          <a:prstGeom prst="line">
            <a:avLst/>
          </a:prstGeom>
          <a:ln w="22225">
            <a:solidFill>
              <a:srgbClr val="E4701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 name="Receiver 2"/>
          <p:cNvSpPr/>
          <p:nvPr/>
        </p:nvSpPr>
        <p:spPr>
          <a:xfrm>
            <a:off x="2880360" y="3904487"/>
            <a:ext cx="1691640" cy="786384"/>
          </a:xfrm>
          <a:prstGeom prst="roundRect">
            <a:avLst>
              <a:gd name="adj" fmla="val 10000"/>
            </a:avLst>
          </a:prstGeom>
          <a:solidFill>
            <a:srgbClr val="EAF2DF"/>
          </a:solidFill>
          <a:ln w="15875">
            <a:solidFill>
              <a:srgbClr val="6C9D3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i="0">
                <a:solidFill>
                  <a:srgbClr val="000000"/>
                </a:solidFill>
                <a:latin typeface="Arial"/>
              </a:rPr>
              <a:t>Receiver 2</a:t>
            </a:r>
          </a:p>
          <a:p>
            <a:pPr algn="ctr"/>
            <a:r>
              <a:rPr sz="1000" b="0" i="0">
                <a:solidFill>
                  <a:srgbClr val="595959"/>
                </a:solidFill>
                <a:latin typeface="Arial"/>
              </a:rPr>
              <a:t>captures CSI</a:t>
            </a:r>
          </a:p>
        </p:txBody>
      </p:sp>
      <p:cxnSp>
        <p:nvCxnSpPr>
          <p:cNvPr id="8" name="Connector 7"/>
          <p:cNvCxnSpPr/>
          <p:nvPr/>
        </p:nvCxnSpPr>
        <p:spPr>
          <a:xfrm flipV="1">
            <a:off x="2057400" y="4297679"/>
            <a:ext cx="822960" cy="1"/>
          </a:xfrm>
          <a:prstGeom prst="line">
            <a:avLst/>
          </a:prstGeom>
          <a:ln w="22225">
            <a:solidFill>
              <a:srgbClr val="E4701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 name="Receiver N"/>
          <p:cNvSpPr/>
          <p:nvPr/>
        </p:nvSpPr>
        <p:spPr>
          <a:xfrm>
            <a:off x="2880360" y="5202936"/>
            <a:ext cx="1691640" cy="786384"/>
          </a:xfrm>
          <a:prstGeom prst="roundRect">
            <a:avLst>
              <a:gd name="adj" fmla="val 10000"/>
            </a:avLst>
          </a:prstGeom>
          <a:solidFill>
            <a:srgbClr val="EAF2DF"/>
          </a:solidFill>
          <a:ln w="15875">
            <a:solidFill>
              <a:srgbClr val="6C9D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i="0">
                <a:solidFill>
                  <a:srgbClr val="000000"/>
                </a:solidFill>
                <a:latin typeface="Arial"/>
              </a:rPr>
              <a:t>Receiver N</a:t>
            </a:r>
          </a:p>
          <a:p>
            <a:pPr algn="ctr"/>
            <a:r>
              <a:rPr sz="1000" b="0" i="0">
                <a:solidFill>
                  <a:srgbClr val="595959"/>
                </a:solidFill>
                <a:latin typeface="Arial"/>
              </a:rPr>
              <a:t>added by configuration</a:t>
            </a:r>
          </a:p>
        </p:txBody>
      </p:sp>
      <p:cxnSp>
        <p:nvCxnSpPr>
          <p:cNvPr id="10" name="Connector 9"/>
          <p:cNvCxnSpPr/>
          <p:nvPr/>
        </p:nvCxnSpPr>
        <p:spPr>
          <a:xfrm>
            <a:off x="2057400" y="4297680"/>
            <a:ext cx="822960" cy="1298448"/>
          </a:xfrm>
          <a:prstGeom prst="line">
            <a:avLst/>
          </a:prstGeom>
          <a:ln w="22225">
            <a:solidFill>
              <a:srgbClr val="E4701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Hub"/>
          <p:cNvSpPr/>
          <p:nvPr/>
        </p:nvSpPr>
        <p:spPr>
          <a:xfrm>
            <a:off x="5440680" y="3246120"/>
            <a:ext cx="1828800" cy="2103120"/>
          </a:xfrm>
          <a:prstGeom prst="roundRect">
            <a:avLst>
              <a:gd name="adj" fmla="val 10000"/>
            </a:avLst>
          </a:prstGeom>
          <a:solidFill>
            <a:srgbClr val="F2F2F2"/>
          </a:solidFill>
          <a:ln w="15875">
            <a:solidFill>
              <a:srgbClr val="75757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000000"/>
                </a:solidFill>
                <a:latin typeface="Arial"/>
              </a:rPr>
              <a:t>Laptop hub</a:t>
            </a:r>
          </a:p>
          <a:p>
            <a:pPr algn="ctr"/>
            <a:r>
              <a:rPr sz="1100" b="0" i="0">
                <a:solidFill>
                  <a:srgbClr val="595959"/>
                </a:solidFill>
                <a:latin typeface="Arial"/>
              </a:rPr>
              <a:t>mosquitto broker</a:t>
            </a:r>
          </a:p>
          <a:p>
            <a:pPr algn="ctr"/>
            <a:r>
              <a:rPr sz="1100" b="0" i="0">
                <a:solidFill>
                  <a:srgbClr val="595959"/>
                </a:solidFill>
                <a:latin typeface="Arial"/>
              </a:rPr>
              <a:t>csi_hub.py</a:t>
            </a:r>
          </a:p>
          <a:p>
            <a:pPr algn="ctr"/>
            <a:r>
              <a:rPr sz="1100" b="0" i="0">
                <a:solidFill>
                  <a:srgbClr val="595959"/>
                </a:solidFill>
                <a:latin typeface="Arial"/>
              </a:rPr>
              <a:t>stamps arrival time</a:t>
            </a:r>
          </a:p>
          <a:p>
            <a:pPr algn="ctr"/>
            <a:r>
              <a:rPr sz="1100" b="0" i="0">
                <a:solidFill>
                  <a:srgbClr val="595959"/>
                </a:solidFill>
                <a:latin typeface="Arial"/>
              </a:rPr>
              <a:t>one CSV per node</a:t>
            </a:r>
          </a:p>
        </p:txBody>
      </p:sp>
      <p:cxnSp>
        <p:nvCxnSpPr>
          <p:cNvPr id="12" name="Connector 11"/>
          <p:cNvCxnSpPr/>
          <p:nvPr/>
        </p:nvCxnSpPr>
        <p:spPr>
          <a:xfrm>
            <a:off x="4572000" y="2999232"/>
            <a:ext cx="868680" cy="749807"/>
          </a:xfrm>
          <a:prstGeom prst="line">
            <a:avLst/>
          </a:prstGeom>
          <a:ln w="22225">
            <a:solidFill>
              <a:srgbClr val="6C9D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72000" y="4297679"/>
            <a:ext cx="868680" cy="1"/>
          </a:xfrm>
          <a:prstGeom prst="line">
            <a:avLst/>
          </a:prstGeom>
          <a:ln w="22225">
            <a:solidFill>
              <a:srgbClr val="6C9D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572000" y="4846320"/>
            <a:ext cx="868680" cy="749808"/>
          </a:xfrm>
          <a:prstGeom prst="line">
            <a:avLst/>
          </a:prstGeom>
          <a:ln w="22225">
            <a:solidFill>
              <a:srgbClr val="6C9D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CSV log"/>
          <p:cNvSpPr/>
          <p:nvPr/>
        </p:nvSpPr>
        <p:spPr>
          <a:xfrm>
            <a:off x="7589520" y="3063240"/>
            <a:ext cx="1188720" cy="777240"/>
          </a:xfrm>
          <a:prstGeom prst="roundRect">
            <a:avLst>
              <a:gd name="adj" fmla="val 10000"/>
            </a:avLst>
          </a:prstGeom>
          <a:solidFill>
            <a:srgbClr val="FFFFFF"/>
          </a:solidFill>
          <a:ln w="15875">
            <a:solidFill>
              <a:srgbClr val="75757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000000"/>
                </a:solidFill>
                <a:latin typeface="Arial"/>
              </a:rPr>
              <a:t>CSV log</a:t>
            </a:r>
          </a:p>
          <a:p>
            <a:pPr algn="ctr"/>
            <a:r>
              <a:rPr sz="1000" b="0" i="0">
                <a:solidFill>
                  <a:srgbClr val="595959"/>
                </a:solidFill>
                <a:latin typeface="Arial"/>
              </a:rPr>
              <a:t>one file per node</a:t>
            </a:r>
          </a:p>
        </p:txBody>
      </p:sp>
      <p:sp>
        <p:nvSpPr>
          <p:cNvPr id="16" name="Live plot"/>
          <p:cNvSpPr/>
          <p:nvPr/>
        </p:nvSpPr>
        <p:spPr>
          <a:xfrm>
            <a:off x="7589520" y="4754880"/>
            <a:ext cx="1188720" cy="777240"/>
          </a:xfrm>
          <a:prstGeom prst="roundRect">
            <a:avLst>
              <a:gd name="adj" fmla="val 10000"/>
            </a:avLst>
          </a:prstGeom>
          <a:solidFill>
            <a:srgbClr val="FFFFFF"/>
          </a:solidFill>
          <a:ln w="15875">
            <a:solidFill>
              <a:srgbClr val="75757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000000"/>
                </a:solidFill>
                <a:latin typeface="Arial"/>
              </a:rPr>
              <a:t>Live plot</a:t>
            </a:r>
          </a:p>
          <a:p>
            <a:pPr algn="ctr"/>
            <a:r>
              <a:rPr sz="1000" b="0" i="0">
                <a:solidFill>
                  <a:srgbClr val="595959"/>
                </a:solidFill>
                <a:latin typeface="Arial"/>
              </a:rPr>
              <a:t>motion score</a:t>
            </a:r>
          </a:p>
        </p:txBody>
      </p:sp>
      <p:cxnSp>
        <p:nvCxnSpPr>
          <p:cNvPr id="17" name="Connector 16"/>
          <p:cNvCxnSpPr/>
          <p:nvPr/>
        </p:nvCxnSpPr>
        <p:spPr>
          <a:xfrm flipV="1">
            <a:off x="7269480" y="3456432"/>
            <a:ext cx="320040" cy="429768"/>
          </a:xfrm>
          <a:prstGeom prst="line">
            <a:avLst/>
          </a:prstGeom>
          <a:ln w="22225">
            <a:solidFill>
              <a:srgbClr val="7575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69480" y="4709160"/>
            <a:ext cx="320040" cy="429768"/>
          </a:xfrm>
          <a:prstGeom prst="line">
            <a:avLst/>
          </a:prstGeom>
          <a:ln w="22225">
            <a:solidFill>
              <a:srgbClr val="7575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11480" y="6446520"/>
            <a:ext cx="457200" cy="0"/>
          </a:xfrm>
          <a:prstGeom prst="line">
            <a:avLst/>
          </a:prstGeom>
          <a:ln w="22225">
            <a:solidFill>
              <a:srgbClr val="E4701D"/>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0120" y="6336792"/>
            <a:ext cx="2743200" cy="228600"/>
          </a:xfrm>
          <a:prstGeom prst="rect">
            <a:avLst/>
          </a:prstGeom>
          <a:noFill/>
        </p:spPr>
        <p:txBody>
          <a:bodyPr wrap="square" anchor="t" lIns="0" rIns="0" tIns="0" bIns="0">
            <a:spAutoFit/>
          </a:bodyPr>
          <a:lstStyle/>
          <a:p>
            <a:pPr algn="l" marL="0" indent="0">
              <a:spcAft>
                <a:spcPts val="200"/>
              </a:spcAft>
              <a:buNone/>
            </a:pPr>
            <a:r>
              <a:rPr sz="1100" b="0" i="0">
                <a:solidFill>
                  <a:srgbClr val="595959"/>
                </a:solidFill>
                <a:latin typeface="Arial"/>
              </a:rPr>
              <a:t>Wi-Fi sensing frames through the room</a:t>
            </a:r>
          </a:p>
        </p:txBody>
      </p:sp>
      <p:cxnSp>
        <p:nvCxnSpPr>
          <p:cNvPr id="21" name="Connector 20"/>
          <p:cNvCxnSpPr/>
          <p:nvPr/>
        </p:nvCxnSpPr>
        <p:spPr>
          <a:xfrm>
            <a:off x="3931920" y="6446520"/>
            <a:ext cx="457200" cy="0"/>
          </a:xfrm>
          <a:prstGeom prst="line">
            <a:avLst/>
          </a:prstGeom>
          <a:ln w="22225">
            <a:solidFill>
              <a:srgbClr val="6C9D3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480560" y="6336792"/>
            <a:ext cx="4206240" cy="228600"/>
          </a:xfrm>
          <a:prstGeom prst="rect">
            <a:avLst/>
          </a:prstGeom>
          <a:noFill/>
        </p:spPr>
        <p:txBody>
          <a:bodyPr wrap="square" anchor="t" lIns="0" rIns="0" tIns="0" bIns="0">
            <a:spAutoFit/>
          </a:bodyPr>
          <a:lstStyle/>
          <a:p>
            <a:pPr algn="l" marL="0" indent="0">
              <a:spcAft>
                <a:spcPts val="200"/>
              </a:spcAft>
              <a:buNone/>
            </a:pPr>
            <a:r>
              <a:rPr sz="1100" b="0" i="0">
                <a:solidFill>
                  <a:srgbClr val="595959"/>
                </a:solidFill>
                <a:latin typeface="Arial"/>
              </a:rPr>
              <a:t>MQTT reports over home Wi-Fi (topic csi/&lt;node&gt;/data)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and Software Configuration</a:t>
            </a:r>
          </a:p>
        </p:txBody>
      </p:sp>
      <p:sp>
        <p:nvSpPr>
          <p:cNvPr id="3" name="Hardware card"/>
          <p:cNvSpPr/>
          <p:nvPr/>
        </p:nvSpPr>
        <p:spPr>
          <a:xfrm>
            <a:off x="365760" y="1188720"/>
            <a:ext cx="4114800" cy="39319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371600"/>
            <a:ext cx="3566160" cy="411480"/>
          </a:xfrm>
          <a:prstGeom prst="rect">
            <a:avLst/>
          </a:prstGeom>
          <a:noFill/>
        </p:spPr>
        <p:txBody>
          <a:bodyPr wrap="square" anchor="t" lIns="0" rIns="0" tIns="0" bIns="0">
            <a:spAutoFit/>
          </a:bodyPr>
          <a:lstStyle/>
          <a:p>
            <a:pPr algn="l" marL="0" indent="0">
              <a:spcAft>
                <a:spcPts val="200"/>
              </a:spcAft>
              <a:buNone/>
            </a:pPr>
            <a:r>
              <a:rPr sz="1800" b="1" i="0">
                <a:solidFill>
                  <a:srgbClr val="E4701D"/>
                </a:solidFill>
                <a:latin typeface="Arial"/>
              </a:rPr>
              <a:t>Hardware</a:t>
            </a:r>
          </a:p>
        </p:txBody>
      </p:sp>
      <p:sp>
        <p:nvSpPr>
          <p:cNvPr id="5" name="TextBox 4"/>
          <p:cNvSpPr txBox="1"/>
          <p:nvPr/>
        </p:nvSpPr>
        <p:spPr>
          <a:xfrm>
            <a:off x="594360" y="1920240"/>
            <a:ext cx="3657600" cy="365760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ESP32-C6 boards (ESP32-C6-1-N4, 4 MB flash): 1 transmitter and 1 receiver now, 7 on hand</a:t>
            </a:r>
          </a:p>
          <a:p>
            <a:pPr algn="l" marL="274320" indent="-274320">
              <a:spcAft>
                <a:spcPts val="600"/>
              </a:spcAft>
              <a:buFont typeface="Arial"/>
              <a:buChar char="•"/>
            </a:pPr>
            <a:r>
              <a:rPr sz="1400" b="0" i="0">
                <a:solidFill>
                  <a:srgbClr val="000000"/>
                </a:solidFill>
                <a:latin typeface="Arial"/>
              </a:rPr>
              <a:t>Single antenna, 2.4 GHz only, used in 802.11n 20 MHz mode</a:t>
            </a:r>
          </a:p>
          <a:p>
            <a:pPr algn="l" marL="274320" indent="-274320">
              <a:spcAft>
                <a:spcPts val="600"/>
              </a:spcAft>
              <a:buFont typeface="Arial"/>
              <a:buChar char="•"/>
            </a:pPr>
            <a:r>
              <a:rPr sz="1400" b="0" i="0">
                <a:solidFill>
                  <a:srgbClr val="000000"/>
                </a:solidFill>
                <a:latin typeface="Arial"/>
              </a:rPr>
              <a:t>Powered over USB; flashed and configured through the COM (CH343) port</a:t>
            </a:r>
          </a:p>
          <a:p>
            <a:pPr algn="l" marL="274320" indent="-274320">
              <a:spcAft>
                <a:spcPts val="600"/>
              </a:spcAft>
              <a:buFont typeface="Arial"/>
              <a:buChar char="•"/>
            </a:pPr>
            <a:r>
              <a:rPr sz="1400" b="0" i="0">
                <a:solidFill>
                  <a:srgbClr val="000000"/>
                </a:solidFill>
                <a:latin typeface="Arial"/>
              </a:rPr>
              <a:t>Placed 2–3 m apart at waist height with a clear line of sight</a:t>
            </a:r>
          </a:p>
        </p:txBody>
      </p:sp>
      <p:sp>
        <p:nvSpPr>
          <p:cNvPr id="6" name="Software card"/>
          <p:cNvSpPr/>
          <p:nvPr/>
        </p:nvSpPr>
        <p:spPr>
          <a:xfrm>
            <a:off x="4663440" y="1188720"/>
            <a:ext cx="4114800" cy="39319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37760" y="1371600"/>
            <a:ext cx="3566160" cy="411480"/>
          </a:xfrm>
          <a:prstGeom prst="rect">
            <a:avLst/>
          </a:prstGeom>
          <a:noFill/>
        </p:spPr>
        <p:txBody>
          <a:bodyPr wrap="square" anchor="t" lIns="0" rIns="0" tIns="0" bIns="0">
            <a:spAutoFit/>
          </a:bodyPr>
          <a:lstStyle/>
          <a:p>
            <a:pPr algn="l" marL="0" indent="0">
              <a:spcAft>
                <a:spcPts val="200"/>
              </a:spcAft>
              <a:buNone/>
            </a:pPr>
            <a:r>
              <a:rPr sz="1800" b="1" i="0">
                <a:solidFill>
                  <a:srgbClr val="6C9D30"/>
                </a:solidFill>
                <a:latin typeface="Arial"/>
              </a:rPr>
              <a:t>Software</a:t>
            </a:r>
          </a:p>
        </p:txBody>
      </p:sp>
      <p:sp>
        <p:nvSpPr>
          <p:cNvPr id="8" name="TextBox 7"/>
          <p:cNvSpPr txBox="1"/>
          <p:nvPr/>
        </p:nvSpPr>
        <p:spPr>
          <a:xfrm>
            <a:off x="4892040" y="1920240"/>
            <a:ext cx="3657600" cy="365760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Firmware: C++ on ESP-IDF 5.5.5 (FreeRTOS), built with PlatformIO; one source file per board</a:t>
            </a:r>
          </a:p>
          <a:p>
            <a:pPr algn="l" marL="274320" indent="-274320">
              <a:spcAft>
                <a:spcPts val="600"/>
              </a:spcAft>
              <a:buFont typeface="Arial"/>
              <a:buChar char="•"/>
            </a:pPr>
            <a:r>
              <a:rPr sz="1400" b="0" i="0">
                <a:solidFill>
                  <a:srgbClr val="000000"/>
                </a:solidFill>
                <a:latin typeface="Arial"/>
              </a:rPr>
              <a:t>Transmitter: ESP-NOW broadcast at 802.11n MCS0 from a fixed address</a:t>
            </a:r>
          </a:p>
          <a:p>
            <a:pPr algn="l" marL="274320" indent="-274320">
              <a:spcAft>
                <a:spcPts val="600"/>
              </a:spcAft>
              <a:buFont typeface="Arial"/>
              <a:buChar char="•"/>
            </a:pPr>
            <a:r>
              <a:rPr sz="1400" b="0" i="0">
                <a:solidFill>
                  <a:srgbClr val="000000"/>
                </a:solidFill>
                <a:latin typeface="Arial"/>
              </a:rPr>
              <a:t>Receiver: hears every frame on the channel, keeps only the transmitter's, publishes over MQTT</a:t>
            </a:r>
          </a:p>
          <a:p>
            <a:pPr algn="l" marL="274320" indent="-274320">
              <a:spcAft>
                <a:spcPts val="600"/>
              </a:spcAft>
              <a:buFont typeface="Arial"/>
              <a:buChar char="•"/>
            </a:pPr>
            <a:r>
              <a:rPr sz="1400" b="0" i="0">
                <a:solidFill>
                  <a:srgbClr val="000000"/>
                </a:solidFill>
                <a:latin typeface="Arial"/>
              </a:rPr>
              <a:t>Hub: mosquitto broker; Python with paho-mqtt, NumPy, and Matplotlib</a:t>
            </a:r>
          </a:p>
        </p:txBody>
      </p:sp>
      <p:sp>
        <p:nvSpPr>
          <p:cNvPr id="9" name="TextBox 8"/>
          <p:cNvSpPr txBox="1"/>
          <p:nvPr/>
        </p:nvSpPr>
        <p:spPr>
          <a:xfrm>
            <a:off x="365760" y="5349240"/>
            <a:ext cx="8412480" cy="640080"/>
          </a:xfrm>
          <a:prstGeom prst="rect">
            <a:avLst/>
          </a:prstGeom>
          <a:noFill/>
        </p:spPr>
        <p:txBody>
          <a:bodyPr wrap="square" anchor="t" lIns="0" rIns="0" tIns="0" bIns="0">
            <a:spAutoFit/>
          </a:bodyPr>
          <a:lstStyle/>
          <a:p>
            <a:pPr algn="l" marL="0" indent="0">
              <a:spcAft>
                <a:spcPts val="200"/>
              </a:spcAft>
              <a:buNone/>
            </a:pPr>
            <a:r>
              <a:rPr sz="1400" b="0" i="0">
                <a:solidFill>
                  <a:srgbClr val="595959"/>
                </a:solidFill>
                <a:latin typeface="Arial"/>
              </a:rPr>
              <a:t>Per-board settings are typed over USB serial and stored in flash: Wi-Fi name and password, node ID, hub address, and packet 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Results: Platform</a:t>
            </a:r>
          </a:p>
        </p:txBody>
      </p:sp>
      <p:sp>
        <p:nvSpPr>
          <p:cNvPr id="3" name="Stat 1"/>
          <p:cNvSpPr/>
          <p:nvPr/>
        </p:nvSpPr>
        <p:spPr>
          <a:xfrm>
            <a:off x="365760" y="1188720"/>
            <a:ext cx="1965960"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298448"/>
            <a:ext cx="1783080" cy="685800"/>
          </a:xfrm>
          <a:prstGeom prst="rect">
            <a:avLst/>
          </a:prstGeom>
          <a:noFill/>
        </p:spPr>
        <p:txBody>
          <a:bodyPr wrap="square" anchor="ctr" lIns="0" rIns="0" tIns="0" bIns="0">
            <a:spAutoFit/>
          </a:bodyPr>
          <a:lstStyle/>
          <a:p>
            <a:pPr algn="ctr" marL="0" indent="0">
              <a:spcAft>
                <a:spcPts val="200"/>
              </a:spcAft>
              <a:buNone/>
            </a:pPr>
            <a:r>
              <a:rPr sz="3400" b="1" i="0">
                <a:solidFill>
                  <a:srgbClr val="E4701D"/>
                </a:solidFill>
                <a:latin typeface="Arial"/>
              </a:rPr>
              <a:t>100.1</a:t>
            </a:r>
          </a:p>
        </p:txBody>
      </p:sp>
      <p:sp>
        <p:nvSpPr>
          <p:cNvPr id="5" name="TextBox 4"/>
          <p:cNvSpPr txBox="1"/>
          <p:nvPr/>
        </p:nvSpPr>
        <p:spPr>
          <a:xfrm>
            <a:off x="502920" y="2011680"/>
            <a:ext cx="1691640" cy="868680"/>
          </a:xfrm>
          <a:prstGeom prst="rect">
            <a:avLst/>
          </a:prstGeom>
          <a:noFill/>
        </p:spPr>
        <p:txBody>
          <a:bodyPr wrap="square" anchor="t" lIns="0" rIns="0" tIns="0" bIns="0">
            <a:spAutoFit/>
          </a:bodyPr>
          <a:lstStyle/>
          <a:p>
            <a:pPr algn="ctr" marL="0" indent="0">
              <a:spcAft>
                <a:spcPts val="200"/>
              </a:spcAft>
              <a:buNone/>
            </a:pPr>
            <a:r>
              <a:rPr sz="1200" b="0" i="0">
                <a:solidFill>
                  <a:srgbClr val="000000"/>
                </a:solidFill>
                <a:latin typeface="Arial"/>
              </a:rPr>
              <a:t>frames/s at the receiver (target 100)</a:t>
            </a:r>
          </a:p>
        </p:txBody>
      </p:sp>
      <p:sp>
        <p:nvSpPr>
          <p:cNvPr id="6" name="Stat 2"/>
          <p:cNvSpPr/>
          <p:nvPr/>
        </p:nvSpPr>
        <p:spPr>
          <a:xfrm>
            <a:off x="2496312" y="1188720"/>
            <a:ext cx="1965960"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587752" y="1298448"/>
            <a:ext cx="1783080" cy="685800"/>
          </a:xfrm>
          <a:prstGeom prst="rect">
            <a:avLst/>
          </a:prstGeom>
          <a:noFill/>
        </p:spPr>
        <p:txBody>
          <a:bodyPr wrap="square" anchor="ctr" lIns="0" rIns="0" tIns="0" bIns="0">
            <a:spAutoFit/>
          </a:bodyPr>
          <a:lstStyle/>
          <a:p>
            <a:pPr algn="ctr" marL="0" indent="0">
              <a:spcAft>
                <a:spcPts val="200"/>
              </a:spcAft>
              <a:buNone/>
            </a:pPr>
            <a:r>
              <a:rPr sz="3400" b="1" i="0">
                <a:solidFill>
                  <a:srgbClr val="E4701D"/>
                </a:solidFill>
                <a:latin typeface="Arial"/>
              </a:rPr>
              <a:t>99.3%</a:t>
            </a:r>
          </a:p>
        </p:txBody>
      </p:sp>
      <p:sp>
        <p:nvSpPr>
          <p:cNvPr id="8" name="TextBox 7"/>
          <p:cNvSpPr txBox="1"/>
          <p:nvPr/>
        </p:nvSpPr>
        <p:spPr>
          <a:xfrm>
            <a:off x="2633472" y="2011680"/>
            <a:ext cx="1691640" cy="868680"/>
          </a:xfrm>
          <a:prstGeom prst="rect">
            <a:avLst/>
          </a:prstGeom>
          <a:noFill/>
        </p:spPr>
        <p:txBody>
          <a:bodyPr wrap="square" anchor="t" lIns="0" rIns="0" tIns="0" bIns="0">
            <a:spAutoFit/>
          </a:bodyPr>
          <a:lstStyle/>
          <a:p>
            <a:pPr algn="ctr" marL="0" indent="0">
              <a:spcAft>
                <a:spcPts val="200"/>
              </a:spcAft>
              <a:buNone/>
            </a:pPr>
            <a:r>
              <a:rPr sz="1200" b="0" i="0">
                <a:solidFill>
                  <a:srgbClr val="000000"/>
                </a:solidFill>
                <a:latin typeface="Arial"/>
              </a:rPr>
              <a:t>of gaps between frames exactly 10 ms</a:t>
            </a:r>
          </a:p>
        </p:txBody>
      </p:sp>
      <p:sp>
        <p:nvSpPr>
          <p:cNvPr id="9" name="Stat 3"/>
          <p:cNvSpPr/>
          <p:nvPr/>
        </p:nvSpPr>
        <p:spPr>
          <a:xfrm>
            <a:off x="4626864" y="1188720"/>
            <a:ext cx="1965960"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18304" y="1298448"/>
            <a:ext cx="1783080" cy="685800"/>
          </a:xfrm>
          <a:prstGeom prst="rect">
            <a:avLst/>
          </a:prstGeom>
          <a:noFill/>
        </p:spPr>
        <p:txBody>
          <a:bodyPr wrap="square" anchor="ctr" lIns="0" rIns="0" tIns="0" bIns="0">
            <a:spAutoFit/>
          </a:bodyPr>
          <a:lstStyle/>
          <a:p>
            <a:pPr algn="ctr" marL="0" indent="0">
              <a:spcAft>
                <a:spcPts val="200"/>
              </a:spcAft>
              <a:buNone/>
            </a:pPr>
            <a:r>
              <a:rPr sz="3400" b="1" i="0">
                <a:solidFill>
                  <a:srgbClr val="6C9D30"/>
                </a:solidFill>
                <a:latin typeface="Arial"/>
              </a:rPr>
              <a:t>100%</a:t>
            </a:r>
          </a:p>
        </p:txBody>
      </p:sp>
      <p:sp>
        <p:nvSpPr>
          <p:cNvPr id="11" name="TextBox 10"/>
          <p:cNvSpPr txBox="1"/>
          <p:nvPr/>
        </p:nvSpPr>
        <p:spPr>
          <a:xfrm>
            <a:off x="4764024" y="2011680"/>
            <a:ext cx="1691640" cy="868680"/>
          </a:xfrm>
          <a:prstGeom prst="rect">
            <a:avLst/>
          </a:prstGeom>
          <a:noFill/>
        </p:spPr>
        <p:txBody>
          <a:bodyPr wrap="square" anchor="t" lIns="0" rIns="0" tIns="0" bIns="0">
            <a:spAutoFit/>
          </a:bodyPr>
          <a:lstStyle/>
          <a:p>
            <a:pPr algn="ctr" marL="0" indent="0">
              <a:spcAft>
                <a:spcPts val="200"/>
              </a:spcAft>
              <a:buNone/>
            </a:pPr>
            <a:r>
              <a:rPr sz="1200" b="0" i="0">
                <a:solidFill>
                  <a:srgbClr val="000000"/>
                </a:solidFill>
                <a:latin typeface="Arial"/>
              </a:rPr>
              <a:t>of kept frames from the transmitter, 128 values each</a:t>
            </a:r>
          </a:p>
        </p:txBody>
      </p:sp>
      <p:sp>
        <p:nvSpPr>
          <p:cNvPr id="12" name="Stat 4"/>
          <p:cNvSpPr/>
          <p:nvPr/>
        </p:nvSpPr>
        <p:spPr>
          <a:xfrm>
            <a:off x="6757416" y="1188720"/>
            <a:ext cx="1965960"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48856" y="1298448"/>
            <a:ext cx="1783080" cy="685800"/>
          </a:xfrm>
          <a:prstGeom prst="rect">
            <a:avLst/>
          </a:prstGeom>
          <a:noFill/>
        </p:spPr>
        <p:txBody>
          <a:bodyPr wrap="square" anchor="ctr" lIns="0" rIns="0" tIns="0" bIns="0">
            <a:spAutoFit/>
          </a:bodyPr>
          <a:lstStyle/>
          <a:p>
            <a:pPr algn="ctr" marL="0" indent="0">
              <a:spcAft>
                <a:spcPts val="200"/>
              </a:spcAft>
              <a:buNone/>
            </a:pPr>
            <a:r>
              <a:rPr sz="3400" b="1" i="0">
                <a:solidFill>
                  <a:srgbClr val="6C9D30"/>
                </a:solidFill>
                <a:latin typeface="Arial"/>
              </a:rPr>
              <a:t>85.7</a:t>
            </a:r>
          </a:p>
        </p:txBody>
      </p:sp>
      <p:sp>
        <p:nvSpPr>
          <p:cNvPr id="14" name="TextBox 13"/>
          <p:cNvSpPr txBox="1"/>
          <p:nvPr/>
        </p:nvSpPr>
        <p:spPr>
          <a:xfrm>
            <a:off x="6894576" y="2011680"/>
            <a:ext cx="1691640" cy="868680"/>
          </a:xfrm>
          <a:prstGeom prst="rect">
            <a:avLst/>
          </a:prstGeom>
          <a:noFill/>
        </p:spPr>
        <p:txBody>
          <a:bodyPr wrap="square" anchor="t" lIns="0" rIns="0" tIns="0" bIns="0">
            <a:spAutoFit/>
          </a:bodyPr>
          <a:lstStyle/>
          <a:p>
            <a:pPr algn="ctr" marL="0" indent="0">
              <a:spcAft>
                <a:spcPts val="200"/>
              </a:spcAft>
              <a:buNone/>
            </a:pPr>
            <a:r>
              <a:rPr sz="1200" b="0" i="0">
                <a:solidFill>
                  <a:srgbClr val="000000"/>
                </a:solidFill>
                <a:latin typeface="Arial"/>
              </a:rPr>
              <a:t>records/s logged by the hub over MQTT</a:t>
            </a:r>
          </a:p>
        </p:txBody>
      </p:sp>
      <p:sp>
        <p:nvSpPr>
          <p:cNvPr id="15" name="TextBox 14"/>
          <p:cNvSpPr txBox="1"/>
          <p:nvPr/>
        </p:nvSpPr>
        <p:spPr>
          <a:xfrm>
            <a:off x="365760" y="3063240"/>
            <a:ext cx="8412480" cy="274320"/>
          </a:xfrm>
          <a:prstGeom prst="rect">
            <a:avLst/>
          </a:prstGeom>
          <a:noFill/>
        </p:spPr>
        <p:txBody>
          <a:bodyPr wrap="square" anchor="t" lIns="0" rIns="0" tIns="0" bIns="0">
            <a:spAutoFit/>
          </a:bodyPr>
          <a:lstStyle/>
          <a:p>
            <a:pPr algn="l" marL="0" indent="0">
              <a:spcAft>
                <a:spcPts val="200"/>
              </a:spcAft>
              <a:buNone/>
            </a:pPr>
            <a:r>
              <a:rPr sz="1100" b="0" i="0">
                <a:solidFill>
                  <a:srgbClr val="595959"/>
                </a:solidFill>
                <a:latin typeface="Arial"/>
              </a:rPr>
              <a:t>First three: receiver serial output, Oct 8, broadcast design (1,139 frames). Last: hub log, Oct 8, original single-receiver design.</a:t>
            </a:r>
          </a:p>
        </p:txBody>
      </p:sp>
      <p:sp>
        <p:nvSpPr>
          <p:cNvPr id="16" name="TextBox 15"/>
          <p:cNvSpPr txBox="1"/>
          <p:nvPr/>
        </p:nvSpPr>
        <p:spPr>
          <a:xfrm>
            <a:off x="265176" y="3474720"/>
            <a:ext cx="8613648" cy="3108960"/>
          </a:xfrm>
          <a:prstGeom prst="rect">
            <a:avLst/>
          </a:prstGeom>
          <a:noFill/>
        </p:spPr>
        <p:txBody>
          <a:bodyPr wrap="square" anchor="t">
            <a:spAutoFit/>
          </a:bodyPr>
          <a:lstStyle/>
          <a:p>
            <a:pPr algn="l" marL="0" indent="0">
              <a:spcAft>
                <a:spcPts val="400"/>
              </a:spcAft>
              <a:buNone/>
            </a:pPr>
            <a:r>
              <a:rPr sz="1600" b="1" i="0">
                <a:solidFill>
                  <a:srgbClr val="000000"/>
                </a:solidFill>
                <a:latin typeface="Arial"/>
              </a:rPr>
              <a:t>Observations</a:t>
            </a:r>
          </a:p>
          <a:p>
            <a:pPr algn="l" marL="274320" indent="-274320">
              <a:spcAft>
                <a:spcPts val="600"/>
              </a:spcAft>
              <a:buFont typeface="Arial"/>
              <a:buChar char="•"/>
            </a:pPr>
            <a:r>
              <a:rPr sz="1400" b="0" i="0">
                <a:solidFill>
                  <a:srgbClr val="000000"/>
                </a:solidFill>
                <a:latin typeface="Arial"/>
              </a:rPr>
              <a:t>The full data path works: transmitter → receiver → MQTT → hub → CSV file and live plot.</a:t>
            </a:r>
          </a:p>
          <a:p>
            <a:pPr algn="l" marL="274320" indent="-274320">
              <a:spcAft>
                <a:spcPts val="600"/>
              </a:spcAft>
              <a:buFont typeface="Arial"/>
              <a:buChar char="•"/>
            </a:pPr>
            <a:r>
              <a:rPr sz="1400" b="0" i="0">
                <a:solidFill>
                  <a:srgbClr val="000000"/>
                </a:solidFill>
                <a:latin typeface="Arial"/>
              </a:rPr>
              <a:t>Fixed in bring-up: the hub received only 1 record/s (now buffered and sent by a dedicated task); the transmitter ran at ~86 frames/s (now fixed-period timing); a crash from using a second CPU core the C6 does not have.</a:t>
            </a:r>
          </a:p>
          <a:p>
            <a:pPr algn="l" marL="274320" indent="-274320">
              <a:spcAft>
                <a:spcPts val="600"/>
              </a:spcAft>
              <a:buFont typeface="Arial"/>
              <a:buChar char="•"/>
            </a:pPr>
            <a:r>
              <a:rPr sz="1400" b="0" i="0">
                <a:solidFill>
                  <a:srgbClr val="000000"/>
                </a:solidFill>
                <a:latin typeface="Arial"/>
              </a:rPr>
              <a:t>Moved from a one-to-one link to a broadcast design, so any number of receivers can share one transmitter.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Results: First Motion Recording</a:t>
            </a:r>
          </a:p>
        </p:txBody>
      </p:sp>
      <p:sp>
        <p:nvSpPr>
          <p:cNvPr id="3" name="TextBox 2"/>
          <p:cNvSpPr txBox="1"/>
          <p:nvPr/>
        </p:nvSpPr>
        <p:spPr>
          <a:xfrm>
            <a:off x="265176" y="1143000"/>
            <a:ext cx="8613648" cy="1188720"/>
          </a:xfrm>
          <a:prstGeom prst="rect">
            <a:avLst/>
          </a:prstGeom>
          <a:noFill/>
        </p:spPr>
        <p:txBody>
          <a:bodyPr wrap="square" anchor="t">
            <a:spAutoFit/>
          </a:bodyPr>
          <a:lstStyle/>
          <a:p>
            <a:pPr algn="l" marL="274320" indent="-274320">
              <a:spcAft>
                <a:spcPts val="600"/>
              </a:spcAft>
              <a:buFont typeface="Arial"/>
              <a:buChar char="•"/>
            </a:pPr>
            <a:r>
              <a:rPr sz="1400" b="0" i="0">
                <a:solidFill>
                  <a:srgbClr val="000000"/>
                </a:solidFill>
                <a:latin typeface="Arial"/>
              </a:rPr>
              <a:t>97 s recording on one transmitter–receiver link, about 52 transmitter frames/s (Oct 8).</a:t>
            </a:r>
          </a:p>
          <a:p>
            <a:pPr algn="l" marL="274320" indent="-274320">
              <a:spcAft>
                <a:spcPts val="600"/>
              </a:spcAft>
              <a:buFont typeface="Arial"/>
              <a:buChar char="•"/>
            </a:pPr>
            <a:r>
              <a:rPr sz="1400" b="0" i="0">
                <a:solidFill>
                  <a:srgbClr val="000000"/>
                </a:solidFill>
                <a:latin typeface="Arial"/>
              </a:rPr>
              <a:t>Still periods give a steady pattern; movement breaks it up across subcarriers.</a:t>
            </a:r>
          </a:p>
          <a:p>
            <a:pPr algn="l" marL="274320" indent="-274320">
              <a:spcAft>
                <a:spcPts val="600"/>
              </a:spcAft>
              <a:buFont typeface="Arial"/>
              <a:buChar char="•"/>
            </a:pPr>
            <a:r>
              <a:rPr sz="1400" b="0" i="0">
                <a:solidFill>
                  <a:srgbClr val="000000"/>
                </a:solidFill>
                <a:latin typeface="Arial"/>
              </a:rPr>
              <a:t>The motion score rises during movement and returns to baseline when still.</a:t>
            </a:r>
          </a:p>
        </p:txBody>
      </p:sp>
      <p:pic>
        <p:nvPicPr>
          <p:cNvPr id="4" name="Picture 3" descr="results-timeline.png"/>
          <p:cNvPicPr>
            <a:picLocks noChangeAspect="1"/>
          </p:cNvPicPr>
          <p:nvPr/>
        </p:nvPicPr>
        <p:blipFill>
          <a:blip r:embed="rId3"/>
          <a:stretch>
            <a:fillRect/>
          </a:stretch>
        </p:blipFill>
        <p:spPr>
          <a:xfrm>
            <a:off x="548640" y="2377440"/>
            <a:ext cx="8046720" cy="409651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Results: Still vs. Moving</a:t>
            </a:r>
          </a:p>
        </p:txBody>
      </p:sp>
      <p:graphicFrame>
        <p:nvGraphicFramePr>
          <p:cNvPr id="3" name="Chart 2"/>
          <p:cNvGraphicFramePr>
            <a:graphicFrameLocks noGrp="1"/>
          </p:cNvGraphicFramePr>
          <p:nvPr/>
        </p:nvGraphicFramePr>
        <p:xfrm>
          <a:off x="320040" y="1188720"/>
          <a:ext cx="5029200" cy="4846320"/>
        </p:xfrm>
        <a:graphic>
          <a:graphicData uri="http://schemas.openxmlformats.org/drawingml/2006/chart">
            <c:chart xmlns:c="http://schemas.openxmlformats.org/drawingml/2006/chart" r:id="rId3"/>
          </a:graphicData>
        </a:graphic>
      </p:graphicFrame>
      <p:sp>
        <p:nvSpPr>
          <p:cNvPr id="4" name="TextBox 3"/>
          <p:cNvSpPr txBox="1"/>
          <p:nvPr/>
        </p:nvSpPr>
        <p:spPr>
          <a:xfrm>
            <a:off x="5577840" y="1234440"/>
            <a:ext cx="3246120" cy="868680"/>
          </a:xfrm>
          <a:prstGeom prst="rect">
            <a:avLst/>
          </a:prstGeom>
          <a:noFill/>
        </p:spPr>
        <p:txBody>
          <a:bodyPr wrap="square" anchor="t" lIns="0" rIns="0" tIns="0" bIns="0">
            <a:spAutoFit/>
          </a:bodyPr>
          <a:lstStyle/>
          <a:p>
            <a:pPr algn="l" marL="0" indent="0">
              <a:spcAft>
                <a:spcPts val="200"/>
              </a:spcAft>
              <a:buNone/>
            </a:pPr>
            <a:r>
              <a:rPr sz="4800" b="1" i="0">
                <a:solidFill>
                  <a:srgbClr val="E4701D"/>
                </a:solidFill>
                <a:latin typeface="Arial"/>
              </a:rPr>
              <a:t>3–4×</a:t>
            </a:r>
          </a:p>
        </p:txBody>
      </p:sp>
      <p:sp>
        <p:nvSpPr>
          <p:cNvPr id="5" name="TextBox 4"/>
          <p:cNvSpPr txBox="1"/>
          <p:nvPr/>
        </p:nvSpPr>
        <p:spPr>
          <a:xfrm>
            <a:off x="5577840" y="2103120"/>
            <a:ext cx="3246120" cy="640080"/>
          </a:xfrm>
          <a:prstGeom prst="rect">
            <a:avLst/>
          </a:prstGeom>
          <a:noFill/>
        </p:spPr>
        <p:txBody>
          <a:bodyPr wrap="square" anchor="t" lIns="0" rIns="0" tIns="0" bIns="0">
            <a:spAutoFit/>
          </a:bodyPr>
          <a:lstStyle/>
          <a:p>
            <a:pPr algn="l" marL="0" indent="0">
              <a:spcAft>
                <a:spcPts val="200"/>
              </a:spcAft>
              <a:buNone/>
            </a:pPr>
            <a:r>
              <a:rPr sz="1400" b="0" i="0">
                <a:solidFill>
                  <a:srgbClr val="000000"/>
                </a:solidFill>
                <a:latin typeface="Arial"/>
              </a:rPr>
              <a:t>higher motion score while moving than while still</a:t>
            </a:r>
          </a:p>
        </p:txBody>
      </p:sp>
      <p:sp>
        <p:nvSpPr>
          <p:cNvPr id="6" name="TextBox 5"/>
          <p:cNvSpPr txBox="1"/>
          <p:nvPr/>
        </p:nvSpPr>
        <p:spPr>
          <a:xfrm>
            <a:off x="5486400" y="2926080"/>
            <a:ext cx="3337560" cy="3566160"/>
          </a:xfrm>
          <a:prstGeom prst="rect">
            <a:avLst/>
          </a:prstGeom>
          <a:noFill/>
        </p:spPr>
        <p:txBody>
          <a:bodyPr wrap="square" anchor="t">
            <a:spAutoFit/>
          </a:bodyPr>
          <a:lstStyle/>
          <a:p>
            <a:pPr algn="l" marL="274320" indent="-274320">
              <a:spcAft>
                <a:spcPts val="600"/>
              </a:spcAft>
              <a:buFont typeface="Arial"/>
              <a:buChar char="•"/>
            </a:pPr>
            <a:r>
              <a:rPr sz="1400" b="0" i="0">
                <a:solidFill>
                  <a:srgbClr val="000000"/>
                </a:solidFill>
                <a:latin typeface="Arial"/>
              </a:rPr>
              <a:t>A simple threshold would separate still from moving in this recording.</a:t>
            </a:r>
          </a:p>
          <a:p>
            <a:pPr algn="l" marL="274320" indent="-274320">
              <a:spcAft>
                <a:spcPts val="600"/>
              </a:spcAft>
              <a:buFont typeface="Arial"/>
              <a:buChar char="•"/>
            </a:pPr>
            <a:r>
              <a:rPr sz="1400" b="0" i="0">
                <a:solidFill>
                  <a:srgbClr val="000000"/>
                </a:solidFill>
                <a:latin typeface="Arial"/>
              </a:rPr>
              <a:t>Limitations: one 97 s recording; stretches labeled from the timeline afterwards, not logged during the test.</a:t>
            </a:r>
          </a:p>
          <a:p>
            <a:pPr algn="l" marL="274320" indent="-274320">
              <a:spcAft>
                <a:spcPts val="600"/>
              </a:spcAft>
              <a:buFont typeface="Arial"/>
              <a:buChar char="•"/>
            </a:pPr>
            <a:r>
              <a:rPr sz="1400" b="0" i="0">
                <a:solidFill>
                  <a:srgbClr val="000000"/>
                </a:solidFill>
                <a:latin typeface="Arial"/>
              </a:rPr>
              <a:t>Next: labeled sessions (empty, still, moving) to measure accuracy on recordings not used for 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Completion Plan</a:t>
            </a:r>
          </a:p>
        </p:txBody>
      </p:sp>
      <p:graphicFrame>
        <p:nvGraphicFramePr>
          <p:cNvPr id="3" name="Table 2"/>
          <p:cNvGraphicFramePr>
            <a:graphicFrameLocks noGrp="1"/>
          </p:cNvGraphicFramePr>
          <p:nvPr/>
        </p:nvGraphicFramePr>
        <p:xfrm>
          <a:off x="365760" y="1234440"/>
          <a:ext cx="8412480" cy="4114800"/>
        </p:xfrm>
        <a:graphic>
          <a:graphicData uri="http://schemas.openxmlformats.org/drawingml/2006/table">
            <a:tbl>
              <a:tblPr firstRow="1">
                <a:tableStyleId>{5C22544A-7EE6-4342-B048-85BDC9FD1C3A}</a:tableStyleId>
              </a:tblPr>
              <a:tblGrid>
                <a:gridCol w="5212080"/>
                <a:gridCol w="1600200"/>
                <a:gridCol w="1600200"/>
              </a:tblGrid>
              <a:tr h="457200">
                <a:tc>
                  <a:txBody>
                    <a:bodyPr/>
                    <a:lstStyle/>
                    <a:p>
                      <a:r>
                        <a:rPr sz="1300" b="1" i="0">
                          <a:solidFill>
                            <a:srgbClr val="FFFFFF"/>
                          </a:solidFill>
                          <a:latin typeface="Arial"/>
                        </a:rPr>
                        <a:t>Milestone</a:t>
                      </a:r>
                    </a:p>
                  </a:txBody>
                  <a:tcPr marL="109728" marR="109728" anchor="ctr">
                    <a:solidFill>
                      <a:srgbClr val="E4701D"/>
                    </a:solidFill>
                  </a:tcPr>
                </a:tc>
                <a:tc>
                  <a:txBody>
                    <a:bodyPr/>
                    <a:lstStyle/>
                    <a:p>
                      <a:r>
                        <a:rPr sz="1300" b="1" i="0">
                          <a:solidFill>
                            <a:srgbClr val="FFFFFF"/>
                          </a:solidFill>
                          <a:latin typeface="Arial"/>
                        </a:rPr>
                        <a:t>Target</a:t>
                      </a:r>
                    </a:p>
                  </a:txBody>
                  <a:tcPr marL="109728" marR="109728" anchor="ctr">
                    <a:solidFill>
                      <a:srgbClr val="E4701D"/>
                    </a:solidFill>
                  </a:tcPr>
                </a:tc>
                <a:tc>
                  <a:txBody>
                    <a:bodyPr/>
                    <a:lstStyle/>
                    <a:p>
                      <a:r>
                        <a:rPr sz="1300" b="1" i="0">
                          <a:solidFill>
                            <a:srgbClr val="FFFFFF"/>
                          </a:solidFill>
                          <a:latin typeface="Arial"/>
                        </a:rPr>
                        <a:t>Status</a:t>
                      </a:r>
                    </a:p>
                  </a:txBody>
                  <a:tcPr marL="109728" marR="109728" anchor="ctr">
                    <a:solidFill>
                      <a:srgbClr val="E4701D"/>
                    </a:solidFill>
                  </a:tcPr>
                </a:tc>
              </a:tr>
              <a:tr h="457200">
                <a:tc>
                  <a:txBody>
                    <a:bodyPr/>
                    <a:lstStyle/>
                    <a:p>
                      <a:r>
                        <a:rPr sz="1300" b="0" i="0">
                          <a:solidFill>
                            <a:srgbClr val="000000"/>
                          </a:solidFill>
                          <a:latin typeface="Arial"/>
                        </a:rPr>
                        <a:t>Hardware platform working, first CSI captures</a:t>
                      </a:r>
                    </a:p>
                  </a:txBody>
                  <a:tcPr marL="109728" marR="109728" anchor="ctr">
                    <a:solidFill>
                      <a:srgbClr val="FFFFFF"/>
                    </a:solidFill>
                  </a:tcPr>
                </a:tc>
                <a:tc>
                  <a:txBody>
                    <a:bodyPr/>
                    <a:lstStyle/>
                    <a:p>
                      <a:r>
                        <a:rPr sz="1300" b="0" i="0">
                          <a:solidFill>
                            <a:srgbClr val="000000"/>
                          </a:solidFill>
                          <a:latin typeface="Arial"/>
                        </a:rPr>
                        <a:t>End of Sept</a:t>
                      </a:r>
                    </a:p>
                  </a:txBody>
                  <a:tcPr marL="109728" marR="109728" anchor="ctr">
                    <a:solidFill>
                      <a:srgbClr val="FFFFFF"/>
                    </a:solidFill>
                  </a:tcPr>
                </a:tc>
                <a:tc>
                  <a:txBody>
                    <a:bodyPr/>
                    <a:lstStyle/>
                    <a:p>
                      <a:r>
                        <a:rPr sz="1300" b="1" i="0">
                          <a:solidFill>
                            <a:srgbClr val="6C9D30"/>
                          </a:solidFill>
                          <a:latin typeface="Arial"/>
                        </a:rPr>
                        <a:t>Done</a:t>
                      </a:r>
                    </a:p>
                  </a:txBody>
                  <a:tcPr marL="109728" marR="109728" anchor="ctr">
                    <a:solidFill>
                      <a:srgbClr val="FFFFFF"/>
                    </a:solidFill>
                  </a:tcPr>
                </a:tc>
              </a:tr>
              <a:tr h="457200">
                <a:tc>
                  <a:txBody>
                    <a:bodyPr/>
                    <a:lstStyle/>
                    <a:p>
                      <a:r>
                        <a:rPr sz="1300" b="0" i="0">
                          <a:solidFill>
                            <a:srgbClr val="000000"/>
                          </a:solidFill>
                          <a:latin typeface="Arial"/>
                        </a:rPr>
                        <a:t>Multi-receiver firmware: broadcast and Wi-Fi reporting</a:t>
                      </a:r>
                    </a:p>
                  </a:txBody>
                  <a:tcPr marL="109728" marR="109728" anchor="ctr">
                    <a:solidFill>
                      <a:srgbClr val="F2F2F2"/>
                    </a:solidFill>
                  </a:tcPr>
                </a:tc>
                <a:tc>
                  <a:txBody>
                    <a:bodyPr/>
                    <a:lstStyle/>
                    <a:p>
                      <a:r>
                        <a:rPr sz="1300" b="0" i="0">
                          <a:solidFill>
                            <a:srgbClr val="000000"/>
                          </a:solidFill>
                          <a:latin typeface="Arial"/>
                        </a:rPr>
                        <a:t>Mid-Oct</a:t>
                      </a:r>
                    </a:p>
                  </a:txBody>
                  <a:tcPr marL="109728" marR="109728" anchor="ctr">
                    <a:solidFill>
                      <a:srgbClr val="F2F2F2"/>
                    </a:solidFill>
                  </a:tcPr>
                </a:tc>
                <a:tc>
                  <a:txBody>
                    <a:bodyPr/>
                    <a:lstStyle/>
                    <a:p>
                      <a:r>
                        <a:rPr sz="1300" b="1" i="0">
                          <a:solidFill>
                            <a:srgbClr val="E4701D"/>
                          </a:solidFill>
                          <a:latin typeface="Arial"/>
                        </a:rPr>
                        <a:t>In progress</a:t>
                      </a:r>
                    </a:p>
                  </a:txBody>
                  <a:tcPr marL="109728" marR="109728" anchor="ctr">
                    <a:solidFill>
                      <a:srgbClr val="F2F2F2"/>
                    </a:solidFill>
                  </a:tcPr>
                </a:tc>
              </a:tr>
              <a:tr h="457200">
                <a:tc>
                  <a:txBody>
                    <a:bodyPr/>
                    <a:lstStyle/>
                    <a:p>
                      <a:r>
                        <a:rPr sz="1300" b="0" i="0">
                          <a:solidFill>
                            <a:srgbClr val="000000"/>
                          </a:solidFill>
                          <a:latin typeface="Arial"/>
                        </a:rPr>
                        <a:t>Labeled recordings: empty, still, moving</a:t>
                      </a:r>
                    </a:p>
                  </a:txBody>
                  <a:tcPr marL="109728" marR="109728" anchor="ctr">
                    <a:solidFill>
                      <a:srgbClr val="FFFFFF"/>
                    </a:solidFill>
                  </a:tcPr>
                </a:tc>
                <a:tc>
                  <a:txBody>
                    <a:bodyPr/>
                    <a:lstStyle/>
                    <a:p>
                      <a:r>
                        <a:rPr sz="1300" b="0" i="0">
                          <a:solidFill>
                            <a:srgbClr val="000000"/>
                          </a:solidFill>
                          <a:latin typeface="Arial"/>
                        </a:rPr>
                        <a:t>Late Oct</a:t>
                      </a:r>
                    </a:p>
                  </a:txBody>
                  <a:tcPr marL="109728" marR="109728" anchor="ctr">
                    <a:solidFill>
                      <a:srgbClr val="FFFFFF"/>
                    </a:solidFill>
                  </a:tcPr>
                </a:tc>
                <a:tc>
                  <a:txBody>
                    <a:bodyPr/>
                    <a:lstStyle/>
                    <a:p>
                      <a:r>
                        <a:rPr sz="1300" b="1" i="0">
                          <a:solidFill>
                            <a:srgbClr val="757575"/>
                          </a:solidFill>
                          <a:latin typeface="Arial"/>
                        </a:rPr>
                        <a:t>Planned</a:t>
                      </a:r>
                    </a:p>
                  </a:txBody>
                  <a:tcPr marL="109728" marR="109728" anchor="ctr">
                    <a:solidFill>
                      <a:srgbClr val="FFFFFF"/>
                    </a:solidFill>
                  </a:tcPr>
                </a:tc>
              </a:tr>
              <a:tr h="457200">
                <a:tc>
                  <a:txBody>
                    <a:bodyPr/>
                    <a:lstStyle/>
                    <a:p>
                      <a:r>
                        <a:rPr sz="1300" b="0" i="0">
                          <a:solidFill>
                            <a:srgbClr val="000000"/>
                          </a:solidFill>
                          <a:latin typeface="Arial"/>
                        </a:rPr>
                        <a:t>Channel characterization: distance, obstruction, position</a:t>
                      </a:r>
                    </a:p>
                  </a:txBody>
                  <a:tcPr marL="109728" marR="109728" anchor="ctr">
                    <a:solidFill>
                      <a:srgbClr val="F2F2F2"/>
                    </a:solidFill>
                  </a:tcPr>
                </a:tc>
                <a:tc>
                  <a:txBody>
                    <a:bodyPr/>
                    <a:lstStyle/>
                    <a:p>
                      <a:r>
                        <a:rPr sz="1300" b="0" i="0">
                          <a:solidFill>
                            <a:srgbClr val="000000"/>
                          </a:solidFill>
                          <a:latin typeface="Arial"/>
                        </a:rPr>
                        <a:t>Early Nov</a:t>
                      </a:r>
                    </a:p>
                  </a:txBody>
                  <a:tcPr marL="109728" marR="109728" anchor="ctr">
                    <a:solidFill>
                      <a:srgbClr val="F2F2F2"/>
                    </a:solidFill>
                  </a:tcPr>
                </a:tc>
                <a:tc>
                  <a:txBody>
                    <a:bodyPr/>
                    <a:lstStyle/>
                    <a:p>
                      <a:r>
                        <a:rPr sz="1300" b="1" i="0">
                          <a:solidFill>
                            <a:srgbClr val="757575"/>
                          </a:solidFill>
                          <a:latin typeface="Arial"/>
                        </a:rPr>
                        <a:t>Planned</a:t>
                      </a:r>
                    </a:p>
                  </a:txBody>
                  <a:tcPr marL="109728" marR="109728" anchor="ctr">
                    <a:solidFill>
                      <a:srgbClr val="F2F2F2"/>
                    </a:solidFill>
                  </a:tcPr>
                </a:tc>
              </a:tr>
              <a:tr h="457200">
                <a:tc>
                  <a:txBody>
                    <a:bodyPr/>
                    <a:lstStyle/>
                    <a:p>
                      <a:r>
                        <a:rPr sz="1300" b="0" i="0">
                          <a:solidFill>
                            <a:srgbClr val="000000"/>
                          </a:solidFill>
                          <a:latin typeface="Arial"/>
                        </a:rPr>
                        <a:t>Presence and motion detector, accuracy on held-out data</a:t>
                      </a:r>
                    </a:p>
                  </a:txBody>
                  <a:tcPr marL="109728" marR="109728" anchor="ctr">
                    <a:solidFill>
                      <a:srgbClr val="FFFFFF"/>
                    </a:solidFill>
                  </a:tcPr>
                </a:tc>
                <a:tc>
                  <a:txBody>
                    <a:bodyPr/>
                    <a:lstStyle/>
                    <a:p>
                      <a:r>
                        <a:rPr sz="1300" b="0" i="0">
                          <a:solidFill>
                            <a:srgbClr val="000000"/>
                          </a:solidFill>
                          <a:latin typeface="Arial"/>
                        </a:rPr>
                        <a:t>Mid-Nov</a:t>
                      </a:r>
                    </a:p>
                  </a:txBody>
                  <a:tcPr marL="109728" marR="109728" anchor="ctr">
                    <a:solidFill>
                      <a:srgbClr val="FFFFFF"/>
                    </a:solidFill>
                  </a:tcPr>
                </a:tc>
                <a:tc>
                  <a:txBody>
                    <a:bodyPr/>
                    <a:lstStyle/>
                    <a:p>
                      <a:r>
                        <a:rPr sz="1300" b="1" i="0">
                          <a:solidFill>
                            <a:srgbClr val="757575"/>
                          </a:solidFill>
                          <a:latin typeface="Arial"/>
                        </a:rPr>
                        <a:t>Planned</a:t>
                      </a:r>
                    </a:p>
                  </a:txBody>
                  <a:tcPr marL="109728" marR="109728" anchor="ctr">
                    <a:solidFill>
                      <a:srgbClr val="FFFFFF"/>
                    </a:solidFill>
                  </a:tcPr>
                </a:tc>
              </a:tr>
              <a:tr h="457200">
                <a:tc>
                  <a:txBody>
                    <a:bodyPr/>
                    <a:lstStyle/>
                    <a:p>
                      <a:r>
                        <a:rPr sz="1300" b="0" i="0">
                          <a:solidFill>
                            <a:srgbClr val="000000"/>
                          </a:solidFill>
                          <a:latin typeface="Arial"/>
                        </a:rPr>
                        <a:t>Add receivers; 3-zone classification</a:t>
                      </a:r>
                    </a:p>
                  </a:txBody>
                  <a:tcPr marL="109728" marR="109728" anchor="ctr">
                    <a:solidFill>
                      <a:srgbClr val="F2F2F2"/>
                    </a:solidFill>
                  </a:tcPr>
                </a:tc>
                <a:tc>
                  <a:txBody>
                    <a:bodyPr/>
                    <a:lstStyle/>
                    <a:p>
                      <a:r>
                        <a:rPr sz="1300" b="0" i="0">
                          <a:solidFill>
                            <a:srgbClr val="000000"/>
                          </a:solidFill>
                          <a:latin typeface="Arial"/>
                        </a:rPr>
                        <a:t>Late Nov</a:t>
                      </a:r>
                    </a:p>
                  </a:txBody>
                  <a:tcPr marL="109728" marR="109728" anchor="ctr">
                    <a:solidFill>
                      <a:srgbClr val="F2F2F2"/>
                    </a:solidFill>
                  </a:tcPr>
                </a:tc>
                <a:tc>
                  <a:txBody>
                    <a:bodyPr/>
                    <a:lstStyle/>
                    <a:p>
                      <a:r>
                        <a:rPr sz="1300" b="1" i="0">
                          <a:solidFill>
                            <a:srgbClr val="757575"/>
                          </a:solidFill>
                          <a:latin typeface="Arial"/>
                        </a:rPr>
                        <a:t>Planned</a:t>
                      </a:r>
                    </a:p>
                  </a:txBody>
                  <a:tcPr marL="109728" marR="109728" anchor="ctr">
                    <a:solidFill>
                      <a:srgbClr val="F2F2F2"/>
                    </a:solidFill>
                  </a:tcPr>
                </a:tc>
              </a:tr>
              <a:tr h="457200">
                <a:tc>
                  <a:txBody>
                    <a:bodyPr/>
                    <a:lstStyle/>
                    <a:p>
                      <a:r>
                        <a:rPr sz="1300" b="0" i="0">
                          <a:solidFill>
                            <a:srgbClr val="000000"/>
                          </a:solidFill>
                          <a:latin typeface="Arial"/>
                        </a:rPr>
                        <a:t>Live demonstration</a:t>
                      </a:r>
                    </a:p>
                  </a:txBody>
                  <a:tcPr marL="109728" marR="109728" anchor="ctr">
                    <a:solidFill>
                      <a:srgbClr val="FFFFFF"/>
                    </a:solidFill>
                  </a:tcPr>
                </a:tc>
                <a:tc>
                  <a:txBody>
                    <a:bodyPr/>
                    <a:lstStyle/>
                    <a:p>
                      <a:r>
                        <a:rPr sz="1300" b="0" i="0">
                          <a:solidFill>
                            <a:srgbClr val="000000"/>
                          </a:solidFill>
                          <a:latin typeface="Arial"/>
                        </a:rPr>
                        <a:t>Dec 7</a:t>
                      </a:r>
                    </a:p>
                  </a:txBody>
                  <a:tcPr marL="109728" marR="109728" anchor="ctr">
                    <a:solidFill>
                      <a:srgbClr val="FFFFFF"/>
                    </a:solidFill>
                  </a:tcPr>
                </a:tc>
                <a:tc>
                  <a:txBody>
                    <a:bodyPr/>
                    <a:lstStyle/>
                    <a:p>
                      <a:r>
                        <a:rPr sz="1300" b="1" i="0">
                          <a:solidFill>
                            <a:srgbClr val="757575"/>
                          </a:solidFill>
                          <a:latin typeface="Arial"/>
                        </a:rPr>
                        <a:t>Planned</a:t>
                      </a:r>
                    </a:p>
                  </a:txBody>
                  <a:tcPr marL="109728" marR="109728" anchor="ctr">
                    <a:solidFill>
                      <a:srgbClr val="FFFFFF"/>
                    </a:solidFill>
                  </a:tcPr>
                </a:tc>
              </a:tr>
              <a:tr h="457200">
                <a:tc>
                  <a:txBody>
                    <a:bodyPr/>
                    <a:lstStyle/>
                    <a:p>
                      <a:r>
                        <a:rPr sz="1300" b="0" i="0">
                          <a:solidFill>
                            <a:srgbClr val="000000"/>
                          </a:solidFill>
                          <a:latin typeface="Arial"/>
                        </a:rPr>
                        <a:t>Final report</a:t>
                      </a:r>
                    </a:p>
                  </a:txBody>
                  <a:tcPr marL="109728" marR="109728" anchor="ctr">
                    <a:solidFill>
                      <a:srgbClr val="F2F2F2"/>
                    </a:solidFill>
                  </a:tcPr>
                </a:tc>
                <a:tc>
                  <a:txBody>
                    <a:bodyPr/>
                    <a:lstStyle/>
                    <a:p>
                      <a:r>
                        <a:rPr sz="1300" b="0" i="0">
                          <a:solidFill>
                            <a:srgbClr val="000000"/>
                          </a:solidFill>
                          <a:latin typeface="Arial"/>
                        </a:rPr>
                        <a:t>Dec 11</a:t>
                      </a:r>
                    </a:p>
                  </a:txBody>
                  <a:tcPr marL="109728" marR="109728" anchor="ctr">
                    <a:solidFill>
                      <a:srgbClr val="F2F2F2"/>
                    </a:solidFill>
                  </a:tcPr>
                </a:tc>
                <a:tc>
                  <a:txBody>
                    <a:bodyPr/>
                    <a:lstStyle/>
                    <a:p>
                      <a:r>
                        <a:rPr sz="1300" b="1" i="0">
                          <a:solidFill>
                            <a:srgbClr val="757575"/>
                          </a:solidFill>
                          <a:latin typeface="Arial"/>
                        </a:rPr>
                        <a:t>Planned</a:t>
                      </a:r>
                    </a:p>
                  </a:txBody>
                  <a:tcPr marL="109728" marR="109728" anchor="ctr">
                    <a:solidFill>
                      <a:srgbClr val="F2F2F2"/>
                    </a:solidFill>
                  </a:tcPr>
                </a:tc>
              </a:tr>
            </a:tbl>
          </a:graphicData>
        </a:graphic>
      </p:graphicFrame>
      <p:sp>
        <p:nvSpPr>
          <p:cNvPr id="4" name="TextBox 3"/>
          <p:cNvSpPr txBox="1"/>
          <p:nvPr/>
        </p:nvSpPr>
        <p:spPr>
          <a:xfrm>
            <a:off x="365760" y="5532120"/>
            <a:ext cx="8412480" cy="548640"/>
          </a:xfrm>
          <a:prstGeom prst="rect">
            <a:avLst/>
          </a:prstGeom>
          <a:noFill/>
        </p:spPr>
        <p:txBody>
          <a:bodyPr wrap="square" anchor="t" lIns="0" rIns="0" tIns="0" bIns="0">
            <a:spAutoFit/>
          </a:bodyPr>
          <a:lstStyle/>
          <a:p>
            <a:pPr algn="l" marL="0" indent="0">
              <a:spcAft>
                <a:spcPts val="200"/>
              </a:spcAft>
              <a:buNone/>
            </a:pPr>
            <a:r>
              <a:rPr sz="1200" b="0" i="0">
                <a:solidFill>
                  <a:srgbClr val="595959"/>
                </a:solidFill>
                <a:latin typeface="Arial"/>
              </a:rPr>
              <a:t>Targets from the Week 1 plan. Channel characterization, first planned for mid-October, now follows the multi-receiver firmware.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Remaining Tasks</a:t>
            </a:r>
          </a:p>
        </p:txBody>
      </p:sp>
      <p:sp>
        <p:nvSpPr>
          <p:cNvPr id="3" name="Hardware card"/>
          <p:cNvSpPr/>
          <p:nvPr/>
        </p:nvSpPr>
        <p:spPr>
          <a:xfrm>
            <a:off x="365760" y="1188720"/>
            <a:ext cx="411480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71500" y="1367028"/>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1</a:t>
            </a:r>
          </a:p>
        </p:txBody>
      </p:sp>
      <p:sp>
        <p:nvSpPr>
          <p:cNvPr id="5" name="TextBox 4"/>
          <p:cNvSpPr txBox="1"/>
          <p:nvPr/>
        </p:nvSpPr>
        <p:spPr>
          <a:xfrm>
            <a:off x="1143000" y="1371600"/>
            <a:ext cx="3108960" cy="41148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Hardware</a:t>
            </a:r>
          </a:p>
        </p:txBody>
      </p:sp>
      <p:sp>
        <p:nvSpPr>
          <p:cNvPr id="6" name="TextBox 5"/>
          <p:cNvSpPr txBox="1"/>
          <p:nvPr/>
        </p:nvSpPr>
        <p:spPr>
          <a:xfrm>
            <a:off x="594360" y="1965960"/>
            <a:ext cx="3703320" cy="164592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Verify multi-receiver reporting over home Wi-Fi</a:t>
            </a:r>
          </a:p>
          <a:p>
            <a:pPr algn="l" marL="274320" indent="-274320">
              <a:spcAft>
                <a:spcPts val="600"/>
              </a:spcAft>
              <a:buFont typeface="Arial"/>
              <a:buChar char="•"/>
            </a:pPr>
            <a:r>
              <a:rPr sz="1400" b="0" i="0">
                <a:solidFill>
                  <a:srgbClr val="000000"/>
                </a:solidFill>
                <a:latin typeface="Arial"/>
              </a:rPr>
              <a:t>Add 2–3 receivers at fixed, marked positions</a:t>
            </a:r>
          </a:p>
          <a:p>
            <a:pPr algn="l" marL="274320" indent="-274320">
              <a:spcAft>
                <a:spcPts val="600"/>
              </a:spcAft>
              <a:buFont typeface="Arial"/>
              <a:buChar char="•"/>
            </a:pPr>
            <a:r>
              <a:rPr sz="1400" b="0" i="0">
                <a:solidFill>
                  <a:srgbClr val="000000"/>
                </a:solidFill>
                <a:latin typeface="Arial"/>
              </a:rPr>
              <a:t>Measure delivery rate and dropped records per receiver</a:t>
            </a:r>
          </a:p>
        </p:txBody>
      </p:sp>
      <p:sp>
        <p:nvSpPr>
          <p:cNvPr id="7" name="Data collection card"/>
          <p:cNvSpPr/>
          <p:nvPr/>
        </p:nvSpPr>
        <p:spPr>
          <a:xfrm>
            <a:off x="4663440" y="1188720"/>
            <a:ext cx="411480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869180" y="1367028"/>
            <a:ext cx="411480" cy="411480"/>
          </a:xfrm>
          <a:prstGeom prst="ellipse">
            <a:avLst/>
          </a:prstGeom>
          <a:solidFill>
            <a:srgbClr val="6C9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2</a:t>
            </a:r>
          </a:p>
        </p:txBody>
      </p:sp>
      <p:sp>
        <p:nvSpPr>
          <p:cNvPr id="9" name="TextBox 8"/>
          <p:cNvSpPr txBox="1"/>
          <p:nvPr/>
        </p:nvSpPr>
        <p:spPr>
          <a:xfrm>
            <a:off x="5440680" y="1371600"/>
            <a:ext cx="3108960" cy="41148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Data collection</a:t>
            </a:r>
          </a:p>
        </p:txBody>
      </p:sp>
      <p:sp>
        <p:nvSpPr>
          <p:cNvPr id="10" name="TextBox 9"/>
          <p:cNvSpPr txBox="1"/>
          <p:nvPr/>
        </p:nvSpPr>
        <p:spPr>
          <a:xfrm>
            <a:off x="4892040" y="1965960"/>
            <a:ext cx="3703320" cy="164592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Labeled sessions: empty, still, and moving</a:t>
            </a:r>
          </a:p>
          <a:p>
            <a:pPr algn="l" marL="274320" indent="-274320">
              <a:spcAft>
                <a:spcPts val="600"/>
              </a:spcAft>
              <a:buFont typeface="Arial"/>
              <a:buChar char="•"/>
            </a:pPr>
            <a:r>
              <a:rPr sz="1400" b="0" i="0">
                <a:solidFill>
                  <a:srgbClr val="000000"/>
                </a:solidFill>
                <a:latin typeface="Arial"/>
              </a:rPr>
              <a:t>Characterization: distance, obstruction, position</a:t>
            </a:r>
          </a:p>
          <a:p>
            <a:pPr algn="l" marL="274320" indent="-274320">
              <a:spcAft>
                <a:spcPts val="600"/>
              </a:spcAft>
              <a:buFont typeface="Arial"/>
              <a:buChar char="•"/>
            </a:pPr>
            <a:r>
              <a:rPr sz="1400" b="0" i="0">
                <a:solidFill>
                  <a:srgbClr val="000000"/>
                </a:solidFill>
                <a:latin typeface="Arial"/>
              </a:rPr>
              <a:t>Per-run metadata: layout, people, notes</a:t>
            </a:r>
          </a:p>
        </p:txBody>
      </p:sp>
      <p:sp>
        <p:nvSpPr>
          <p:cNvPr id="11" name="Analysis card"/>
          <p:cNvSpPr/>
          <p:nvPr/>
        </p:nvSpPr>
        <p:spPr>
          <a:xfrm>
            <a:off x="365760" y="3840480"/>
            <a:ext cx="411480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571500" y="4018788"/>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3</a:t>
            </a:r>
          </a:p>
        </p:txBody>
      </p:sp>
      <p:sp>
        <p:nvSpPr>
          <p:cNvPr id="13" name="TextBox 12"/>
          <p:cNvSpPr txBox="1"/>
          <p:nvPr/>
        </p:nvSpPr>
        <p:spPr>
          <a:xfrm>
            <a:off x="1143000" y="4023360"/>
            <a:ext cx="3108960" cy="41148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Analysis</a:t>
            </a:r>
          </a:p>
        </p:txBody>
      </p:sp>
      <p:sp>
        <p:nvSpPr>
          <p:cNvPr id="14" name="TextBox 13"/>
          <p:cNvSpPr txBox="1"/>
          <p:nvPr/>
        </p:nvSpPr>
        <p:spPr>
          <a:xfrm>
            <a:off x="594360" y="4617720"/>
            <a:ext cx="3703320" cy="164592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Remove outliers; filter to human-motion rates</a:t>
            </a:r>
          </a:p>
          <a:p>
            <a:pPr algn="l" marL="274320" indent="-274320">
              <a:spcAft>
                <a:spcPts val="600"/>
              </a:spcAft>
              <a:buFont typeface="Arial"/>
              <a:buChar char="•"/>
            </a:pPr>
            <a:r>
              <a:rPr sz="1400" b="0" i="0">
                <a:solidFill>
                  <a:srgbClr val="000000"/>
                </a:solidFill>
                <a:latin typeface="Arial"/>
              </a:rPr>
              <a:t>Reduce subcarriers to a few components (PCA)</a:t>
            </a:r>
          </a:p>
          <a:p>
            <a:pPr algn="l" marL="274320" indent="-274320">
              <a:spcAft>
                <a:spcPts val="600"/>
              </a:spcAft>
              <a:buFont typeface="Arial"/>
              <a:buChar char="•"/>
            </a:pPr>
            <a:r>
              <a:rPr sz="1400" b="0" i="0">
                <a:solidFill>
                  <a:srgbClr val="000000"/>
                </a:solidFill>
                <a:latin typeface="Arial"/>
              </a:rPr>
              <a:t>Threshold first, then a trained classifier</a:t>
            </a:r>
          </a:p>
        </p:txBody>
      </p:sp>
      <p:sp>
        <p:nvSpPr>
          <p:cNvPr id="15" name="Demo and report card"/>
          <p:cNvSpPr/>
          <p:nvPr/>
        </p:nvSpPr>
        <p:spPr>
          <a:xfrm>
            <a:off x="4663440" y="3840480"/>
            <a:ext cx="411480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869180" y="4018788"/>
            <a:ext cx="411480" cy="411480"/>
          </a:xfrm>
          <a:prstGeom prst="ellipse">
            <a:avLst/>
          </a:prstGeom>
          <a:solidFill>
            <a:srgbClr val="6C9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4</a:t>
            </a:r>
          </a:p>
        </p:txBody>
      </p:sp>
      <p:sp>
        <p:nvSpPr>
          <p:cNvPr id="17" name="TextBox 16"/>
          <p:cNvSpPr txBox="1"/>
          <p:nvPr/>
        </p:nvSpPr>
        <p:spPr>
          <a:xfrm>
            <a:off x="5440680" y="4023360"/>
            <a:ext cx="3108960" cy="411480"/>
          </a:xfrm>
          <a:prstGeom prst="rect">
            <a:avLst/>
          </a:prstGeom>
          <a:noFill/>
        </p:spPr>
        <p:txBody>
          <a:bodyPr wrap="square" anchor="ctr" lIns="0" rIns="0" tIns="0" bIns="0">
            <a:spAutoFit/>
          </a:bodyPr>
          <a:lstStyle/>
          <a:p>
            <a:pPr algn="l" marL="0" indent="0">
              <a:spcAft>
                <a:spcPts val="200"/>
              </a:spcAft>
              <a:buNone/>
            </a:pPr>
            <a:r>
              <a:rPr sz="1600" b="1" i="0">
                <a:solidFill>
                  <a:srgbClr val="000000"/>
                </a:solidFill>
                <a:latin typeface="Arial"/>
              </a:rPr>
              <a:t>Demo and report</a:t>
            </a:r>
          </a:p>
        </p:txBody>
      </p:sp>
      <p:sp>
        <p:nvSpPr>
          <p:cNvPr id="18" name="TextBox 17"/>
          <p:cNvSpPr txBox="1"/>
          <p:nvPr/>
        </p:nvSpPr>
        <p:spPr>
          <a:xfrm>
            <a:off x="4892040" y="4617720"/>
            <a:ext cx="3703320" cy="1645920"/>
          </a:xfrm>
          <a:prstGeom prst="rect">
            <a:avLst/>
          </a:prstGeom>
          <a:noFill/>
        </p:spPr>
        <p:txBody>
          <a:bodyPr wrap="square" anchor="t" lIns="0" rIns="0" tIns="0" bIns="0">
            <a:spAutoFit/>
          </a:bodyPr>
          <a:lstStyle/>
          <a:p>
            <a:pPr algn="l" marL="274320" indent="-274320">
              <a:spcAft>
                <a:spcPts val="600"/>
              </a:spcAft>
              <a:buFont typeface="Arial"/>
              <a:buChar char="•"/>
            </a:pPr>
            <a:r>
              <a:rPr sz="1400" b="0" i="0">
                <a:solidFill>
                  <a:srgbClr val="000000"/>
                </a:solidFill>
                <a:latin typeface="Arial"/>
              </a:rPr>
              <a:t>Show detection output live on the hub plot</a:t>
            </a:r>
          </a:p>
          <a:p>
            <a:pPr algn="l" marL="274320" indent="-274320">
              <a:spcAft>
                <a:spcPts val="600"/>
              </a:spcAft>
              <a:buFont typeface="Arial"/>
              <a:buChar char="•"/>
            </a:pPr>
            <a:r>
              <a:rPr sz="1400" b="0" i="0">
                <a:solidFill>
                  <a:srgbClr val="000000"/>
                </a:solidFill>
                <a:latin typeface="Arial"/>
              </a:rPr>
              <a:t>3-zone classifier with multiple receivers</a:t>
            </a:r>
          </a:p>
          <a:p>
            <a:pPr algn="l" marL="274320" indent="-274320">
              <a:spcAft>
                <a:spcPts val="600"/>
              </a:spcAft>
              <a:buFont typeface="Arial"/>
              <a:buChar char="•"/>
            </a:pPr>
            <a:r>
              <a:rPr sz="1400" b="0" i="0">
                <a:solidFill>
                  <a:srgbClr val="000000"/>
                </a:solidFill>
                <a:latin typeface="Arial"/>
              </a:rPr>
              <a:t>Final report and documented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Deliverables</a:t>
            </a:r>
          </a:p>
        </p:txBody>
      </p:sp>
      <p:sp>
        <p:nvSpPr>
          <p:cNvPr id="3" name="Deliverable 1"/>
          <p:cNvSpPr/>
          <p:nvPr/>
        </p:nvSpPr>
        <p:spPr>
          <a:xfrm>
            <a:off x="365760" y="118872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068" y="139446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1</a:t>
            </a:r>
          </a:p>
        </p:txBody>
      </p:sp>
      <p:sp>
        <p:nvSpPr>
          <p:cNvPr id="5" name="TextBox 4"/>
          <p:cNvSpPr txBox="1"/>
          <p:nvPr/>
        </p:nvSpPr>
        <p:spPr>
          <a:xfrm>
            <a:off x="1097280" y="132588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Capture platform</a:t>
            </a:r>
          </a:p>
        </p:txBody>
      </p:sp>
      <p:sp>
        <p:nvSpPr>
          <p:cNvPr id="6" name="TextBox 5"/>
          <p:cNvSpPr txBox="1"/>
          <p:nvPr/>
        </p:nvSpPr>
        <p:spPr>
          <a:xfrm>
            <a:off x="594360" y="205740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ESP32-C6 firmware and hub with a documented data format</a:t>
            </a:r>
          </a:p>
        </p:txBody>
      </p:sp>
      <p:sp>
        <p:nvSpPr>
          <p:cNvPr id="7" name="Rounded Rectangle 6"/>
          <p:cNvSpPr/>
          <p:nvPr/>
        </p:nvSpPr>
        <p:spPr>
          <a:xfrm>
            <a:off x="594360" y="3154680"/>
            <a:ext cx="1325880" cy="310896"/>
          </a:xfrm>
          <a:prstGeom prst="roundRect">
            <a:avLst>
              <a:gd name="adj" fmla="val 50000"/>
            </a:avLst>
          </a:prstGeom>
          <a:solidFill>
            <a:srgbClr val="6C9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Working</a:t>
            </a:r>
          </a:p>
        </p:txBody>
      </p:sp>
      <p:sp>
        <p:nvSpPr>
          <p:cNvPr id="8" name="Deliverable 2"/>
          <p:cNvSpPr/>
          <p:nvPr/>
        </p:nvSpPr>
        <p:spPr>
          <a:xfrm>
            <a:off x="3200400" y="118872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378708" y="139446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2</a:t>
            </a:r>
          </a:p>
        </p:txBody>
      </p:sp>
      <p:sp>
        <p:nvSpPr>
          <p:cNvPr id="10" name="TextBox 9"/>
          <p:cNvSpPr txBox="1"/>
          <p:nvPr/>
        </p:nvSpPr>
        <p:spPr>
          <a:xfrm>
            <a:off x="3931920" y="132588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Channel characterization</a:t>
            </a:r>
          </a:p>
        </p:txBody>
      </p:sp>
      <p:sp>
        <p:nvSpPr>
          <p:cNvPr id="11" name="TextBox 10"/>
          <p:cNvSpPr txBox="1"/>
          <p:nvPr/>
        </p:nvSpPr>
        <p:spPr>
          <a:xfrm>
            <a:off x="3429000" y="205740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CSI across distance, obstruction, and receiver position</a:t>
            </a:r>
          </a:p>
        </p:txBody>
      </p:sp>
      <p:sp>
        <p:nvSpPr>
          <p:cNvPr id="12" name="Rounded Rectangle 11"/>
          <p:cNvSpPr/>
          <p:nvPr/>
        </p:nvSpPr>
        <p:spPr>
          <a:xfrm>
            <a:off x="3429000" y="3154680"/>
            <a:ext cx="1325880" cy="310896"/>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Planned</a:t>
            </a:r>
          </a:p>
        </p:txBody>
      </p:sp>
      <p:sp>
        <p:nvSpPr>
          <p:cNvPr id="13" name="Deliverable 3"/>
          <p:cNvSpPr/>
          <p:nvPr/>
        </p:nvSpPr>
        <p:spPr>
          <a:xfrm>
            <a:off x="6035040" y="118872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213348" y="139446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3</a:t>
            </a:r>
          </a:p>
        </p:txBody>
      </p:sp>
      <p:sp>
        <p:nvSpPr>
          <p:cNvPr id="15" name="TextBox 14"/>
          <p:cNvSpPr txBox="1"/>
          <p:nvPr/>
        </p:nvSpPr>
        <p:spPr>
          <a:xfrm>
            <a:off x="6766560" y="132588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Presence and motion detector</a:t>
            </a:r>
          </a:p>
        </p:txBody>
      </p:sp>
      <p:sp>
        <p:nvSpPr>
          <p:cNvPr id="16" name="TextBox 15"/>
          <p:cNvSpPr txBox="1"/>
          <p:nvPr/>
        </p:nvSpPr>
        <p:spPr>
          <a:xfrm>
            <a:off x="6263640" y="205740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Accuracy on recordings not used for tuning</a:t>
            </a:r>
          </a:p>
        </p:txBody>
      </p:sp>
      <p:sp>
        <p:nvSpPr>
          <p:cNvPr id="17" name="Rounded Rectangle 16"/>
          <p:cNvSpPr/>
          <p:nvPr/>
        </p:nvSpPr>
        <p:spPr>
          <a:xfrm>
            <a:off x="6263640" y="3154680"/>
            <a:ext cx="1325880" cy="310896"/>
          </a:xfrm>
          <a:prstGeom prst="roundRect">
            <a:avLst>
              <a:gd name="adj" fmla="val 50000"/>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First results</a:t>
            </a:r>
          </a:p>
        </p:txBody>
      </p:sp>
      <p:sp>
        <p:nvSpPr>
          <p:cNvPr id="18" name="Deliverable 4"/>
          <p:cNvSpPr/>
          <p:nvPr/>
        </p:nvSpPr>
        <p:spPr>
          <a:xfrm>
            <a:off x="365760" y="384048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44068" y="404622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4</a:t>
            </a:r>
          </a:p>
        </p:txBody>
      </p:sp>
      <p:sp>
        <p:nvSpPr>
          <p:cNvPr id="20" name="TextBox 19"/>
          <p:cNvSpPr txBox="1"/>
          <p:nvPr/>
        </p:nvSpPr>
        <p:spPr>
          <a:xfrm>
            <a:off x="1097280" y="397764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Zone classifier</a:t>
            </a:r>
          </a:p>
        </p:txBody>
      </p:sp>
      <p:sp>
        <p:nvSpPr>
          <p:cNvPr id="21" name="TextBox 20"/>
          <p:cNvSpPr txBox="1"/>
          <p:nvPr/>
        </p:nvSpPr>
        <p:spPr>
          <a:xfrm>
            <a:off x="594360" y="470916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3 labeled zones with several receivers; tested on a separate session</a:t>
            </a:r>
          </a:p>
        </p:txBody>
      </p:sp>
      <p:sp>
        <p:nvSpPr>
          <p:cNvPr id="22" name="Rounded Rectangle 21"/>
          <p:cNvSpPr/>
          <p:nvPr/>
        </p:nvSpPr>
        <p:spPr>
          <a:xfrm>
            <a:off x="594360" y="5806440"/>
            <a:ext cx="1325880" cy="310896"/>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Planned</a:t>
            </a:r>
          </a:p>
        </p:txBody>
      </p:sp>
      <p:sp>
        <p:nvSpPr>
          <p:cNvPr id="23" name="Deliverable 5"/>
          <p:cNvSpPr/>
          <p:nvPr/>
        </p:nvSpPr>
        <p:spPr>
          <a:xfrm>
            <a:off x="3200400" y="384048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3378708" y="404622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5</a:t>
            </a:r>
          </a:p>
        </p:txBody>
      </p:sp>
      <p:sp>
        <p:nvSpPr>
          <p:cNvPr id="25" name="TextBox 24"/>
          <p:cNvSpPr txBox="1"/>
          <p:nvPr/>
        </p:nvSpPr>
        <p:spPr>
          <a:xfrm>
            <a:off x="3931920" y="397764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Live demonstration</a:t>
            </a:r>
          </a:p>
        </p:txBody>
      </p:sp>
      <p:sp>
        <p:nvSpPr>
          <p:cNvPr id="26" name="TextBox 25"/>
          <p:cNvSpPr txBox="1"/>
          <p:nvPr/>
        </p:nvSpPr>
        <p:spPr>
          <a:xfrm>
            <a:off x="3429000" y="470916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Real-time detection running in the room</a:t>
            </a:r>
          </a:p>
        </p:txBody>
      </p:sp>
      <p:sp>
        <p:nvSpPr>
          <p:cNvPr id="27" name="Rounded Rectangle 26"/>
          <p:cNvSpPr/>
          <p:nvPr/>
        </p:nvSpPr>
        <p:spPr>
          <a:xfrm>
            <a:off x="3429000" y="5806440"/>
            <a:ext cx="1325880" cy="310896"/>
          </a:xfrm>
          <a:prstGeom prst="roundRect">
            <a:avLst>
              <a:gd name="adj" fmla="val 50000"/>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Partly working</a:t>
            </a:r>
          </a:p>
        </p:txBody>
      </p:sp>
      <p:sp>
        <p:nvSpPr>
          <p:cNvPr id="28" name="Deliverable 6"/>
          <p:cNvSpPr/>
          <p:nvPr/>
        </p:nvSpPr>
        <p:spPr>
          <a:xfrm>
            <a:off x="6035040" y="3840480"/>
            <a:ext cx="2697480" cy="24688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213348" y="4046220"/>
            <a:ext cx="411480" cy="411480"/>
          </a:xfrm>
          <a:prstGeom prst="ellipse">
            <a:avLst/>
          </a:prstGeom>
          <a:solidFill>
            <a:srgbClr val="E470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Arial"/>
              </a:rPr>
              <a:t>6</a:t>
            </a:r>
          </a:p>
        </p:txBody>
      </p:sp>
      <p:sp>
        <p:nvSpPr>
          <p:cNvPr id="30" name="TextBox 29"/>
          <p:cNvSpPr txBox="1"/>
          <p:nvPr/>
        </p:nvSpPr>
        <p:spPr>
          <a:xfrm>
            <a:off x="6766560" y="3977640"/>
            <a:ext cx="1828800" cy="594360"/>
          </a:xfrm>
          <a:prstGeom prst="rect">
            <a:avLst/>
          </a:prstGeom>
          <a:noFill/>
        </p:spPr>
        <p:txBody>
          <a:bodyPr wrap="square" anchor="ctr" lIns="0" rIns="0" tIns="0" bIns="0">
            <a:spAutoFit/>
          </a:bodyPr>
          <a:lstStyle/>
          <a:p>
            <a:pPr algn="l" marL="0" indent="0">
              <a:spcAft>
                <a:spcPts val="200"/>
              </a:spcAft>
              <a:buNone/>
            </a:pPr>
            <a:r>
              <a:rPr sz="1400" b="1" i="0">
                <a:solidFill>
                  <a:srgbClr val="000000"/>
                </a:solidFill>
                <a:latin typeface="Arial"/>
              </a:rPr>
              <a:t>Final report</a:t>
            </a:r>
          </a:p>
        </p:txBody>
      </p:sp>
      <p:sp>
        <p:nvSpPr>
          <p:cNvPr id="31" name="TextBox 30"/>
          <p:cNvSpPr txBox="1"/>
          <p:nvPr/>
        </p:nvSpPr>
        <p:spPr>
          <a:xfrm>
            <a:off x="6263640" y="4709160"/>
            <a:ext cx="2286000" cy="1097280"/>
          </a:xfrm>
          <a:prstGeom prst="rect">
            <a:avLst/>
          </a:prstGeom>
          <a:noFill/>
        </p:spPr>
        <p:txBody>
          <a:bodyPr wrap="square" anchor="t" lIns="0" rIns="0" tIns="0" bIns="0">
            <a:spAutoFit/>
          </a:bodyPr>
          <a:lstStyle/>
          <a:p>
            <a:pPr algn="l" marL="0" indent="0">
              <a:spcAft>
                <a:spcPts val="200"/>
              </a:spcAft>
              <a:buNone/>
            </a:pPr>
            <a:r>
              <a:rPr sz="1300" b="0" i="0">
                <a:solidFill>
                  <a:srgbClr val="000000"/>
                </a:solidFill>
                <a:latin typeface="Arial"/>
              </a:rPr>
              <a:t>Methodology, results, and limitations, with the code</a:t>
            </a:r>
          </a:p>
        </p:txBody>
      </p:sp>
      <p:sp>
        <p:nvSpPr>
          <p:cNvPr id="32" name="Rounded Rectangle 31"/>
          <p:cNvSpPr/>
          <p:nvPr/>
        </p:nvSpPr>
        <p:spPr>
          <a:xfrm>
            <a:off x="6263640" y="5806440"/>
            <a:ext cx="1325880" cy="310896"/>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00" b="1" i="0">
                <a:solidFill>
                  <a:srgbClr val="FFFFFF"/>
                </a:solidFill>
                <a:latin typeface="Arial"/>
              </a:rPr>
              <a:t>Planned</a:t>
            </a:r>
          </a:p>
        </p:txBody>
      </p:sp>
    </p:spTree>
  </p:cSld>
  <p:clrMapOvr>
    <a:masterClrMapping/>
  </p:clrMapOvr>
</p:sld>
</file>

<file path=ppt/theme/theme1.xml><?xml version="1.0" encoding="utf-8"?>
<a:theme xmlns:a="http://schemas.openxmlformats.org/drawingml/2006/main" xmlns:r="http://schemas.openxmlformats.org/officeDocument/2006/relationships" name="ECS-whitebackground">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